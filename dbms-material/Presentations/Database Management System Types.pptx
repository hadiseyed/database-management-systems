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2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Relationship Id="rId9" Type="http://schemas.openxmlformats.org/officeDocument/2006/relationships/image" Target="../media/image5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svg"/><Relationship Id="rId4" Type="http://schemas.openxmlformats.org/officeDocument/2006/relationships/image" Target="../media/image59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76800" y="381000"/>
            <a:ext cx="9525" cy="6096000"/>
          </a:xfrm>
          <a:prstGeom prst="rect">
            <a:avLst/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13015" y="2290911"/>
            <a:ext cx="2013644" cy="1123801"/>
          </a:xfrm>
          <a:prstGeom prst="roundRect">
            <a:avLst>
              <a:gd name="adj" fmla="val 8475"/>
            </a:avLst>
          </a:prstGeom>
          <a:solidFill>
            <a:srgbClr val="2A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79059" y="2290911"/>
            <a:ext cx="2013644" cy="1123801"/>
          </a:xfrm>
          <a:prstGeom prst="roundRect">
            <a:avLst>
              <a:gd name="adj" fmla="val 8475"/>
            </a:avLst>
          </a:prstGeom>
          <a:solidFill>
            <a:srgbClr val="2A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645104" y="2290911"/>
            <a:ext cx="2013644" cy="1123801"/>
          </a:xfrm>
          <a:prstGeom prst="roundRect">
            <a:avLst>
              <a:gd name="adj" fmla="val 8475"/>
            </a:avLst>
          </a:prstGeom>
          <a:solidFill>
            <a:srgbClr val="2A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13015" y="3749873"/>
            <a:ext cx="6345584" cy="9525"/>
          </a:xfrm>
          <a:prstGeom prst="rect">
            <a:avLst/>
          </a:prstGeom>
          <a:solidFill>
            <a:srgbClr val="2A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7208" y="2257815"/>
            <a:ext cx="1472454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C9A84C"/>
                </a:solidFill>
                <a:latin typeface="+mj-lt"/>
              </a:rPr>
              <a:t>CSCI 6600 —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86" y="2674969"/>
            <a:ext cx="3725034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Database Management System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638" y="5562663"/>
            <a:ext cx="426302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9A9080"/>
                </a:solidFill>
                <a:latin typeface="+mj-lt"/>
              </a:rPr>
              <a:t>A comprehensive guide — 17 DBMS types explored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4536" y="2452774"/>
            <a:ext cx="527388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C9A84C"/>
                </a:solidFill>
                <a:latin typeface="+mj-l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4081" y="3092719"/>
            <a:ext cx="55104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938A7A"/>
                </a:solidFill>
                <a:latin typeface="+mj-lt"/>
              </a:rPr>
              <a:t>Lecture</a:t>
            </a:r>
            <a:endParaRPr sz="1000" b="1" i="0" dirty="0">
              <a:solidFill>
                <a:srgbClr val="938A7A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93983" y="2452774"/>
            <a:ext cx="519373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C9A84C"/>
                </a:solidFill>
                <a:latin typeface="+mj-lt"/>
              </a:rPr>
              <a:t>1</a:t>
            </a:r>
            <a:r>
              <a:rPr lang="en-US" sz="4000" b="1" i="0" dirty="0">
                <a:solidFill>
                  <a:srgbClr val="C9A84C"/>
                </a:solidFill>
                <a:latin typeface="+mj-lt"/>
              </a:rPr>
              <a:t>8</a:t>
            </a:r>
            <a:endParaRPr sz="40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22520" y="3092719"/>
            <a:ext cx="92615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i="0" dirty="0">
                <a:solidFill>
                  <a:srgbClr val="938A7A"/>
                </a:solidFill>
                <a:latin typeface="+mj-lt"/>
              </a:rPr>
              <a:t>Types 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6164" y="2487842"/>
            <a:ext cx="779059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4000" b="1" i="0" dirty="0">
                <a:solidFill>
                  <a:srgbClr val="C9A84C"/>
                </a:solidFill>
                <a:latin typeface="+mj-lt"/>
              </a:rPr>
              <a:t>120</a:t>
            </a:r>
            <a:endParaRPr sz="40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75300" y="2757558"/>
            <a:ext cx="36708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C9A84C"/>
                </a:solidFill>
                <a:latin typeface="+mj-lt"/>
              </a:rPr>
              <a:t>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9457" y="3092719"/>
            <a:ext cx="56425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i="0" dirty="0">
                <a:solidFill>
                  <a:srgbClr val="938A7A"/>
                </a:solidFill>
                <a:latin typeface="+mj-lt"/>
              </a:rP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882" y="3987898"/>
            <a:ext cx="73366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8B7F6F"/>
                </a:solidFill>
                <a:latin typeface="+mj-lt"/>
              </a:rPr>
              <a:t>Instructor</a:t>
            </a:r>
            <a:endParaRPr sz="1000" b="1" i="0" dirty="0">
              <a:solidFill>
                <a:srgbClr val="8B7F6F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13015" y="4169054"/>
            <a:ext cx="138326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F0EAD6"/>
                </a:solidFill>
                <a:latin typeface="+mj-lt"/>
              </a:rPr>
              <a:t>Brian </a:t>
            </a:r>
            <a:r>
              <a:rPr sz="2000" b="1" i="0" dirty="0">
                <a:solidFill>
                  <a:srgbClr val="F0EAD6"/>
                </a:solidFill>
                <a:latin typeface="+mj-lt"/>
              </a:rPr>
              <a:t>Dietrick</a:t>
            </a:r>
            <a:endParaRPr b="1" i="0" dirty="0">
              <a:solidFill>
                <a:srgbClr val="F0EAD6"/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360" y="4595577"/>
            <a:ext cx="428623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9A9080"/>
                </a:solidFill>
                <a:latin typeface="+mj-lt"/>
              </a:rPr>
              <a:t>Department of Computer Science · East Carolina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1">
            <a:extLst>
              <a:ext uri="{FF2B5EF4-FFF2-40B4-BE49-F238E27FC236}">
                <a16:creationId xmlns:a16="http://schemas.microsoft.com/office/drawing/2014/main" id="{3736E047-39C3-5BFE-7862-D84CEDF8907C}"/>
              </a:ext>
            </a:extLst>
          </p:cNvPr>
          <p:cNvSpPr/>
          <p:nvPr/>
        </p:nvSpPr>
        <p:spPr>
          <a:xfrm>
            <a:off x="445525" y="3613274"/>
            <a:ext cx="5610225" cy="2503140"/>
          </a:xfrm>
          <a:prstGeom prst="roundRect">
            <a:avLst>
              <a:gd name="adj" fmla="val 3044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>
              <a:latin typeface="+mj-lt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19100" y="921246"/>
            <a:ext cx="5610225" cy="2503140"/>
          </a:xfrm>
          <a:prstGeom prst="roundRect">
            <a:avLst>
              <a:gd name="adj" fmla="val 3044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1491933"/>
            <a:ext cx="53279" cy="532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1720825"/>
            <a:ext cx="53279" cy="532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1949717"/>
            <a:ext cx="53279" cy="532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2178609"/>
            <a:ext cx="53279" cy="532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62675" y="921246"/>
            <a:ext cx="5610225" cy="2503140"/>
          </a:xfrm>
          <a:prstGeom prst="roundRect">
            <a:avLst>
              <a:gd name="adj" fmla="val 3044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+mj-lt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441" y="1454609"/>
            <a:ext cx="53279" cy="5327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441" y="1683501"/>
            <a:ext cx="53279" cy="5327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441" y="1912393"/>
            <a:ext cx="53279" cy="532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441" y="2141285"/>
            <a:ext cx="53279" cy="5327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1010" y="5125368"/>
            <a:ext cx="4371930" cy="811386"/>
          </a:xfrm>
          <a:prstGeom prst="roundRect">
            <a:avLst>
              <a:gd name="adj" fmla="val 3044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Relational databases were designed for </a:t>
            </a:r>
            <a:r>
              <a:rPr lang="en-US" sz="1200" b="1" dirty="0">
                <a:latin typeface="+mj-lt"/>
              </a:rPr>
              <a:t>shared state</a:t>
            </a:r>
            <a:r>
              <a:rPr lang="en-US" sz="1200" dirty="0">
                <a:latin typeface="+mj-lt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ACID forces shared state.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Shared state forces coordination.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Coordination kills horizontal scalability.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0" y="4091033"/>
            <a:ext cx="53279" cy="5327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0" y="4319925"/>
            <a:ext cx="53279" cy="5327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0" y="4548817"/>
            <a:ext cx="53279" cy="5327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0" y="4777709"/>
            <a:ext cx="53279" cy="5327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62675" y="3557736"/>
            <a:ext cx="5610225" cy="2503140"/>
          </a:xfrm>
          <a:prstGeom prst="roundRect">
            <a:avLst>
              <a:gd name="adj" fmla="val 3044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+mj-lt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51323" y="4043511"/>
            <a:ext cx="914155" cy="219075"/>
          </a:xfrm>
          <a:prstGeom prst="roundRect">
            <a:avLst>
              <a:gd name="adj" fmla="val 17391"/>
            </a:avLst>
          </a:prstGeom>
          <a:solidFill>
            <a:srgbClr val="30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+mj-lt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232153" y="4043511"/>
            <a:ext cx="598735" cy="219075"/>
          </a:xfrm>
          <a:prstGeom prst="roundRect">
            <a:avLst>
              <a:gd name="adj" fmla="val 17391"/>
            </a:avLst>
          </a:prstGeom>
          <a:solidFill>
            <a:srgbClr val="30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+mj-lt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897564" y="4020215"/>
            <a:ext cx="1232832" cy="242371"/>
          </a:xfrm>
          <a:prstGeom prst="roundRect">
            <a:avLst>
              <a:gd name="adj" fmla="val 17391"/>
            </a:avLst>
          </a:prstGeom>
          <a:solidFill>
            <a:srgbClr val="30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+mj-l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70974" y="4052934"/>
            <a:ext cx="1622580" cy="209652"/>
          </a:xfrm>
          <a:prstGeom prst="roundRect">
            <a:avLst>
              <a:gd name="adj" fmla="val 17391"/>
            </a:avLst>
          </a:prstGeom>
          <a:solidFill>
            <a:srgbClr val="30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+mj-lt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865069" y="4062357"/>
            <a:ext cx="674061" cy="209652"/>
          </a:xfrm>
          <a:prstGeom prst="roundRect">
            <a:avLst>
              <a:gd name="adj" fmla="val 17391"/>
            </a:avLst>
          </a:prstGeom>
          <a:solidFill>
            <a:srgbClr val="30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+mj-lt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9100" y="6213127"/>
            <a:ext cx="11353800" cy="378172"/>
          </a:xfrm>
          <a:prstGeom prst="roundRect">
            <a:avLst>
              <a:gd name="adj" fmla="val 15112"/>
            </a:avLst>
          </a:prstGeom>
          <a:solidFill>
            <a:srgbClr val="13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+mj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9100" y="6213127"/>
            <a:ext cx="38100" cy="3781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9089" y="295267"/>
            <a:ext cx="4461606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Relational Databases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1738" y="400039"/>
            <a:ext cx="663635" cy="265453"/>
          </a:xfrm>
          <a:prstGeom prst="rect">
            <a:avLst/>
          </a:prstGeom>
          <a:solidFill>
            <a:srgbClr val="C9A84C"/>
          </a:solidFill>
        </p:spPr>
        <p:txBody>
          <a:bodyPr wrap="none" lIns="123821" tIns="47623" rIns="123821" bIns="47623">
            <a:spAutoFit/>
          </a:bodyPr>
          <a:lstStyle/>
          <a:p>
            <a:pPr algn="l"/>
            <a:r>
              <a:rPr sz="1100" b="1" i="0" dirty="0">
                <a:solidFill>
                  <a:srgbClr val="1A1814"/>
                </a:solidFill>
                <a:latin typeface="+mj-lt"/>
              </a:rPr>
              <a:t>01 / </a:t>
            </a:r>
            <a:r>
              <a:rPr lang="en-US" sz="1100" b="1" i="0" dirty="0">
                <a:solidFill>
                  <a:srgbClr val="1A1814"/>
                </a:solidFill>
                <a:latin typeface="+mj-lt"/>
              </a:rPr>
              <a:t>18</a:t>
            </a:r>
            <a:endParaRPr sz="1100" b="1" i="0" dirty="0">
              <a:solidFill>
                <a:srgbClr val="1A1814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8614" y="987896"/>
            <a:ext cx="1343693" cy="419341"/>
          </a:xfrm>
          <a:prstGeom prst="rect">
            <a:avLst/>
          </a:prstGeom>
          <a:noFill/>
        </p:spPr>
        <p:txBody>
          <a:bodyPr wrap="none" lIns="152396" tIns="95247" rIns="152396" bIns="76198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7" y="1416510"/>
            <a:ext cx="33148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C8BFA8"/>
                </a:solidFill>
                <a:latin typeface="+mj-lt"/>
              </a:rPr>
              <a:t>Transactional systems (banking, e-commerce)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7" y="1645402"/>
            <a:ext cx="172579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C8BFA8"/>
                </a:solidFill>
                <a:latin typeface="+mj-lt"/>
              </a:rPr>
              <a:t>ERP and CRM platforms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7" y="1874294"/>
            <a:ext cx="122802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C8BFA8"/>
                </a:solidFill>
                <a:latin typeface="+mj-lt"/>
              </a:rPr>
              <a:t>Financial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7" y="2103186"/>
            <a:ext cx="121994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C8BFA8"/>
                </a:solidFill>
                <a:latin typeface="+mj-lt"/>
              </a:rPr>
              <a:t>HR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045" y="987896"/>
            <a:ext cx="680371" cy="419341"/>
          </a:xfrm>
          <a:prstGeom prst="rect">
            <a:avLst/>
          </a:prstGeom>
          <a:noFill/>
        </p:spPr>
        <p:txBody>
          <a:bodyPr wrap="none" lIns="152396" tIns="95247" rIns="152396" bIns="76198">
            <a:spAutoFit/>
          </a:bodyPr>
          <a:lstStyle/>
          <a:p>
            <a:pPr algn="l"/>
            <a:r>
              <a:rPr sz="1600" b="1" i="0" dirty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3919" y="1416510"/>
            <a:ext cx="30690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C8BFA8"/>
                </a:solidFill>
                <a:latin typeface="+mj-lt"/>
              </a:rPr>
              <a:t>ACID compliance and strong data integrity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3919" y="1645402"/>
            <a:ext cx="296029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C8BFA8"/>
                </a:solidFill>
                <a:latin typeface="+mj-lt"/>
              </a:rPr>
              <a:t>Mature ecosystem with excellent tooling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3919" y="1874294"/>
            <a:ext cx="213673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C8BFA8"/>
                </a:solidFill>
                <a:latin typeface="+mj-lt"/>
              </a:rPr>
              <a:t>Powerful SQL query language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3919" y="2103186"/>
            <a:ext cx="227427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C8BFA8"/>
                </a:solidFill>
                <a:latin typeface="+mj-lt"/>
              </a:rPr>
              <a:t>Well-understood normalization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614" y="3624320"/>
            <a:ext cx="719741" cy="419341"/>
          </a:xfrm>
          <a:prstGeom prst="rect">
            <a:avLst/>
          </a:prstGeom>
          <a:noFill/>
        </p:spPr>
        <p:txBody>
          <a:bodyPr wrap="none" lIns="152396" tIns="95247" rIns="152396" bIns="76198">
            <a:spAutoFit/>
          </a:bodyPr>
          <a:lstStyle/>
          <a:p>
            <a:pPr algn="l"/>
            <a:r>
              <a:rPr sz="1600" b="1" i="0" dirty="0">
                <a:solidFill>
                  <a:srgbClr val="E07070"/>
                </a:solidFill>
                <a:latin typeface="+mj-lt"/>
              </a:rPr>
              <a:t>Cons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487" y="4052934"/>
            <a:ext cx="256211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C8BFA8"/>
                </a:solidFill>
                <a:latin typeface="+mj-lt"/>
              </a:rPr>
              <a:t>Rigid schema makes changes costly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7" y="4281826"/>
            <a:ext cx="187705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C8BFA8"/>
                </a:solidFill>
                <a:latin typeface="+mj-lt"/>
              </a:rPr>
              <a:t>Poor horizontal scalability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7" y="4510718"/>
            <a:ext cx="283423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C8BFA8"/>
                </a:solidFill>
                <a:latin typeface="+mj-lt"/>
              </a:rPr>
              <a:t>Object-relational impedance mismatch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7" y="4739610"/>
            <a:ext cx="167090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C8BFA8"/>
                </a:solidFill>
                <a:latin typeface="+mj-lt"/>
              </a:rPr>
              <a:t>Complex JOINs at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045" y="3624320"/>
            <a:ext cx="1110873" cy="419341"/>
          </a:xfrm>
          <a:prstGeom prst="rect">
            <a:avLst/>
          </a:prstGeom>
          <a:noFill/>
        </p:spPr>
        <p:txBody>
          <a:bodyPr wrap="none" lIns="152396" tIns="95247" rIns="152396" bIns="76198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Examples</a:t>
            </a:r>
            <a:endParaRPr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46483" y="4043511"/>
            <a:ext cx="914155" cy="242372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200" b="1" i="0" dirty="0">
                <a:solidFill>
                  <a:srgbClr val="F0EAD6"/>
                </a:solidFill>
                <a:latin typeface="+mj-lt"/>
              </a:rPr>
              <a:t>PostgreSQL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7701" y="4045997"/>
            <a:ext cx="642799" cy="242372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200" b="1" i="0" dirty="0">
                <a:solidFill>
                  <a:srgbClr val="F0EAD6"/>
                </a:solidFill>
                <a:latin typeface="+mj-lt"/>
              </a:rPr>
              <a:t>MySQL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71467" y="4043511"/>
            <a:ext cx="1232832" cy="242372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200" b="1" i="0" dirty="0">
                <a:solidFill>
                  <a:srgbClr val="F0EAD6"/>
                </a:solidFill>
                <a:latin typeface="+mj-lt"/>
              </a:rPr>
              <a:t>Oracle Database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2145" y="4039470"/>
            <a:ext cx="1622580" cy="242372"/>
          </a:xfrm>
          <a:prstGeom prst="rect">
            <a:avLst/>
          </a:prstGeom>
          <a:noFill/>
        </p:spPr>
        <p:txBody>
          <a:bodyPr wrap="square" lIns="95247" tIns="28574" rIns="95247" bIns="28574">
            <a:spAutoFit/>
          </a:bodyPr>
          <a:lstStyle/>
          <a:p>
            <a:pPr algn="l"/>
            <a:r>
              <a:rPr sz="1200" b="1" i="0" dirty="0">
                <a:solidFill>
                  <a:srgbClr val="F0EAD6"/>
                </a:solidFill>
                <a:latin typeface="+mj-lt"/>
              </a:rPr>
              <a:t>Microsoft SQL Server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899" y="4039515"/>
            <a:ext cx="602467" cy="242372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200" b="1" i="0" dirty="0">
                <a:solidFill>
                  <a:srgbClr val="F0EAD6"/>
                </a:solidFill>
                <a:latin typeface="+mj-lt"/>
              </a:rPr>
              <a:t>SQLite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159" y="6317744"/>
            <a:ext cx="1065246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E8DFC8"/>
                </a:solidFill>
                <a:latin typeface="+mj-lt"/>
              </a:rPr>
              <a:t>Relational databases organize data into structured tables </a:t>
            </a:r>
            <a:r>
              <a:rPr lang="en-US" sz="14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400" b="0" i="1" dirty="0">
                <a:solidFill>
                  <a:srgbClr val="E8DFC8"/>
                </a:solidFill>
                <a:latin typeface="+mj-lt"/>
              </a:rPr>
              <a:t> the foundational model for most enterprise applications, built on decades of maturity.</a:t>
            </a:r>
          </a:p>
        </p:txBody>
      </p:sp>
      <p:pic>
        <p:nvPicPr>
          <p:cNvPr id="50" name="Picture 5" descr="image.png">
            <a:extLst>
              <a:ext uri="{FF2B5EF4-FFF2-40B4-BE49-F238E27FC236}">
                <a16:creationId xmlns:a16="http://schemas.microsoft.com/office/drawing/2014/main" id="{4BC229DE-B487-9976-CA37-0004B08974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118" y="2582941"/>
            <a:ext cx="53279" cy="5327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D5E5DA7-C779-A960-A83A-ED30A26E703F}"/>
              </a:ext>
            </a:extLst>
          </p:cNvPr>
          <p:cNvSpPr txBox="1"/>
          <p:nvPr/>
        </p:nvSpPr>
        <p:spPr>
          <a:xfrm>
            <a:off x="713594" y="2507518"/>
            <a:ext cx="507408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dirty="0">
                <a:solidFill>
                  <a:srgbClr val="C8BFA8"/>
                </a:solidFill>
                <a:latin typeface="+mj-lt"/>
              </a:rPr>
              <a:t>…pretty much everything has been placed in a relational database at one time or another</a:t>
            </a:r>
            <a:endParaRPr sz="1400" b="0" i="0" dirty="0">
              <a:solidFill>
                <a:srgbClr val="C8BFA8"/>
              </a:solidFill>
              <a:latin typeface="+mj-lt"/>
            </a:endParaRPr>
          </a:p>
        </p:txBody>
      </p:sp>
      <p:pic>
        <p:nvPicPr>
          <p:cNvPr id="54" name="Picture 5" descr="image.png">
            <a:extLst>
              <a:ext uri="{FF2B5EF4-FFF2-40B4-BE49-F238E27FC236}">
                <a16:creationId xmlns:a16="http://schemas.microsoft.com/office/drawing/2014/main" id="{3337BF57-B200-3BF4-95C1-29F32C10C1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114" y="3142770"/>
            <a:ext cx="53279" cy="5327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4A9161A-1D03-3392-A439-3F184AAA9756}"/>
              </a:ext>
            </a:extLst>
          </p:cNvPr>
          <p:cNvSpPr txBox="1"/>
          <p:nvPr/>
        </p:nvSpPr>
        <p:spPr>
          <a:xfrm>
            <a:off x="713591" y="3067346"/>
            <a:ext cx="320526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0" i="0" dirty="0">
                <a:solidFill>
                  <a:srgbClr val="C8BFA8"/>
                </a:solidFill>
                <a:latin typeface="+mj-lt"/>
              </a:rPr>
              <a:t>Also known as tabular or rectangular data</a:t>
            </a:r>
            <a:endParaRPr sz="1400" b="0" i="0" dirty="0">
              <a:solidFill>
                <a:srgbClr val="C8BFA8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45046"/>
            <a:ext cx="5648325" cy="2588865"/>
          </a:xfrm>
          <a:prstGeom prst="roundRect">
            <a:avLst>
              <a:gd name="adj" fmla="val 294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20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0525" y="854571"/>
            <a:ext cx="5629275" cy="371475"/>
          </a:xfrm>
          <a:prstGeom prst="rect">
            <a:avLst/>
          </a:prstGeom>
          <a:solidFill>
            <a:srgbClr val="2A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4" name="Oval 3"/>
          <p:cNvSpPr/>
          <p:nvPr/>
        </p:nvSpPr>
        <p:spPr>
          <a:xfrm>
            <a:off x="523874" y="1378446"/>
            <a:ext cx="47625" cy="47625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5" name="Oval 4"/>
          <p:cNvSpPr/>
          <p:nvPr/>
        </p:nvSpPr>
        <p:spPr>
          <a:xfrm>
            <a:off x="523874" y="1592460"/>
            <a:ext cx="47625" cy="47625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6" name="Oval 5"/>
          <p:cNvSpPr/>
          <p:nvPr/>
        </p:nvSpPr>
        <p:spPr>
          <a:xfrm>
            <a:off x="523874" y="1806475"/>
            <a:ext cx="47625" cy="47625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7" name="Oval 6"/>
          <p:cNvSpPr/>
          <p:nvPr/>
        </p:nvSpPr>
        <p:spPr>
          <a:xfrm>
            <a:off x="523874" y="2020490"/>
            <a:ext cx="47625" cy="47625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8" name="Oval 7"/>
          <p:cNvSpPr/>
          <p:nvPr/>
        </p:nvSpPr>
        <p:spPr>
          <a:xfrm>
            <a:off x="523874" y="2234505"/>
            <a:ext cx="47625" cy="47625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62675" y="845046"/>
            <a:ext cx="5648325" cy="2588865"/>
          </a:xfrm>
          <a:prstGeom prst="roundRect">
            <a:avLst>
              <a:gd name="adj" fmla="val 294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72200" y="854571"/>
            <a:ext cx="5629275" cy="371475"/>
          </a:xfrm>
          <a:prstGeom prst="rect">
            <a:avLst/>
          </a:prstGeom>
          <a:solidFill>
            <a:srgbClr val="1E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305550" y="1378446"/>
            <a:ext cx="47625" cy="47625"/>
          </a:xfrm>
          <a:prstGeom prst="ellipse">
            <a:avLst/>
          </a:prstGeom>
          <a:solidFill>
            <a:srgbClr val="7A9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305550" y="1592460"/>
            <a:ext cx="47625" cy="47625"/>
          </a:xfrm>
          <a:prstGeom prst="ellipse">
            <a:avLst/>
          </a:prstGeom>
          <a:solidFill>
            <a:srgbClr val="7A9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305550" y="1806475"/>
            <a:ext cx="47625" cy="47625"/>
          </a:xfrm>
          <a:prstGeom prst="ellipse">
            <a:avLst/>
          </a:prstGeom>
          <a:solidFill>
            <a:srgbClr val="7A9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305550" y="2020490"/>
            <a:ext cx="47625" cy="47625"/>
          </a:xfrm>
          <a:prstGeom prst="ellipse">
            <a:avLst/>
          </a:prstGeom>
          <a:solidFill>
            <a:srgbClr val="7A9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81000" y="3567261"/>
            <a:ext cx="5648325" cy="2588865"/>
          </a:xfrm>
          <a:prstGeom prst="roundRect">
            <a:avLst>
              <a:gd name="adj" fmla="val 294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0525" y="3576786"/>
            <a:ext cx="5629275" cy="371475"/>
          </a:xfrm>
          <a:prstGeom prst="rect">
            <a:avLst/>
          </a:prstGeom>
          <a:solidFill>
            <a:srgbClr val="25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23874" y="4100661"/>
            <a:ext cx="47625" cy="47625"/>
          </a:xfrm>
          <a:prstGeom prst="ellipse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23874" y="4314676"/>
            <a:ext cx="47625" cy="47625"/>
          </a:xfrm>
          <a:prstGeom prst="ellipse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23874" y="4528691"/>
            <a:ext cx="47625" cy="47625"/>
          </a:xfrm>
          <a:prstGeom prst="ellipse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23874" y="4742705"/>
            <a:ext cx="47625" cy="47625"/>
          </a:xfrm>
          <a:prstGeom prst="ellipse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2675" y="3567261"/>
            <a:ext cx="5648325" cy="2588865"/>
          </a:xfrm>
          <a:prstGeom prst="roundRect">
            <a:avLst>
              <a:gd name="adj" fmla="val 294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72200" y="3576786"/>
            <a:ext cx="5629275" cy="371475"/>
          </a:xfrm>
          <a:prstGeom prst="rect">
            <a:avLst/>
          </a:prstGeom>
          <a:solidFill>
            <a:srgbClr val="2A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0990" y="257168"/>
            <a:ext cx="4425122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Key-Value Databases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12430" y="371465"/>
            <a:ext cx="790275" cy="323163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02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0515" y="940272"/>
            <a:ext cx="1176340" cy="369328"/>
          </a:xfrm>
          <a:prstGeom prst="rect">
            <a:avLst/>
          </a:prstGeom>
          <a:noFill/>
        </p:spPr>
        <p:txBody>
          <a:bodyPr wrap="none" lIns="133346" tIns="76198" rIns="133346" bIns="76198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59" y="1330787"/>
            <a:ext cx="177086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Session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59" y="1544797"/>
            <a:ext cx="117961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Caching layers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59" y="1758806"/>
            <a:ext cx="180902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Shopping cart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59" y="1972816"/>
            <a:ext cx="114012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Leaderboards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59" y="2186825"/>
            <a:ext cx="195418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Real-time 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045" y="940272"/>
            <a:ext cx="595732" cy="369328"/>
          </a:xfrm>
          <a:prstGeom prst="rect">
            <a:avLst/>
          </a:prstGeom>
          <a:noFill/>
        </p:spPr>
        <p:txBody>
          <a:bodyPr wrap="none" lIns="133346" tIns="76198" rIns="133346" bIns="76198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689" y="1330787"/>
            <a:ext cx="229300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Extremely fast O(1) lookups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689" y="1544797"/>
            <a:ext cx="254031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Horizontally scalable by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689" y="1758806"/>
            <a:ext cx="155048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Simple data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689" y="1972816"/>
            <a:ext cx="189333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Ideal for caching layers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515" y="3662419"/>
            <a:ext cx="628369" cy="369328"/>
          </a:xfrm>
          <a:prstGeom prst="rect">
            <a:avLst/>
          </a:prstGeom>
          <a:noFill/>
        </p:spPr>
        <p:txBody>
          <a:bodyPr wrap="none" lIns="133346" tIns="76198" rIns="133346" bIns="76198">
            <a:spAutoFit/>
          </a:bodyPr>
          <a:lstStyle/>
          <a:p>
            <a:pPr algn="l"/>
            <a:r>
              <a:rPr sz="1400" b="1" i="0">
                <a:solidFill>
                  <a:srgbClr val="BF6D6D"/>
                </a:solidFill>
                <a:latin typeface="+mj-lt"/>
              </a:rPr>
              <a:t>Cons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59" y="4052934"/>
            <a:ext cx="31814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No query language beyond key lookup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159" y="4266944"/>
            <a:ext cx="185929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Limited data modeling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159" y="4480953"/>
            <a:ext cx="254428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Difficult to query across values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159" y="4694963"/>
            <a:ext cx="253383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No native relationship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045" y="3662419"/>
            <a:ext cx="973400" cy="369328"/>
          </a:xfrm>
          <a:prstGeom prst="rect">
            <a:avLst/>
          </a:prstGeom>
          <a:noFill/>
        </p:spPr>
        <p:txBody>
          <a:bodyPr wrap="none" lIns="133346" tIns="76198" rIns="133346" bIns="76198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2712" y="4036160"/>
            <a:ext cx="555213" cy="273150"/>
          </a:xfrm>
          <a:prstGeom prst="rect">
            <a:avLst/>
          </a:prstGeom>
          <a:solidFill>
            <a:srgbClr val="1A1814"/>
          </a:solidFill>
        </p:spPr>
        <p:txBody>
          <a:bodyPr wrap="none" lIns="76198" tIns="28574" rIns="76198" bIns="28574">
            <a:spAutoFit/>
          </a:bodyPr>
          <a:lstStyle/>
          <a:p>
            <a:pPr algn="l"/>
            <a:r>
              <a:rPr sz="1400" b="1" i="0" dirty="0">
                <a:solidFill>
                  <a:srgbClr val="E8C97A"/>
                </a:solidFill>
                <a:latin typeface="+mj-lt"/>
              </a:rPr>
              <a:t>Redis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5445" y="4041557"/>
            <a:ext cx="1638393" cy="273150"/>
          </a:xfrm>
          <a:prstGeom prst="rect">
            <a:avLst/>
          </a:prstGeom>
          <a:solidFill>
            <a:srgbClr val="1A1814"/>
          </a:solidFill>
        </p:spPr>
        <p:txBody>
          <a:bodyPr wrap="none" lIns="76198" tIns="28574" rIns="76198" bIns="28574">
            <a:spAutoFit/>
          </a:bodyPr>
          <a:lstStyle/>
          <a:p>
            <a:pPr algn="l"/>
            <a:r>
              <a:rPr sz="1400" b="1" i="0" dirty="0">
                <a:solidFill>
                  <a:srgbClr val="E8C97A"/>
                </a:solidFill>
                <a:latin typeface="+mj-lt"/>
              </a:rPr>
              <a:t>Amazon DynamoDB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93095" y="4041557"/>
            <a:ext cx="1066570" cy="273150"/>
          </a:xfrm>
          <a:prstGeom prst="rect">
            <a:avLst/>
          </a:prstGeom>
          <a:solidFill>
            <a:srgbClr val="1A1814"/>
          </a:solidFill>
        </p:spPr>
        <p:txBody>
          <a:bodyPr wrap="none" lIns="76198" tIns="28574" rIns="76198" bIns="28574">
            <a:spAutoFit/>
          </a:bodyPr>
          <a:lstStyle/>
          <a:p>
            <a:pPr algn="l"/>
            <a:r>
              <a:rPr sz="1400" b="1" i="0" dirty="0">
                <a:solidFill>
                  <a:srgbClr val="E8C97A"/>
                </a:solidFill>
                <a:latin typeface="+mj-lt"/>
              </a:rPr>
              <a:t>Memcached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3015" y="4063081"/>
            <a:ext cx="474485" cy="273150"/>
          </a:xfrm>
          <a:prstGeom prst="rect">
            <a:avLst/>
          </a:prstGeom>
          <a:solidFill>
            <a:srgbClr val="1A1814"/>
          </a:solidFill>
        </p:spPr>
        <p:txBody>
          <a:bodyPr wrap="none" lIns="76198" tIns="28574" rIns="76198" bIns="28574">
            <a:spAutoFit/>
          </a:bodyPr>
          <a:lstStyle/>
          <a:p>
            <a:pPr algn="l"/>
            <a:r>
              <a:rPr sz="1400" b="1" i="0" dirty="0">
                <a:solidFill>
                  <a:srgbClr val="E8C97A"/>
                </a:solidFill>
                <a:latin typeface="+mj-lt"/>
              </a:rPr>
              <a:t>Riak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00850" y="4036652"/>
            <a:ext cx="895369" cy="273150"/>
          </a:xfrm>
          <a:prstGeom prst="rect">
            <a:avLst/>
          </a:prstGeom>
          <a:solidFill>
            <a:srgbClr val="1A1814"/>
          </a:solidFill>
        </p:spPr>
        <p:txBody>
          <a:bodyPr wrap="none" lIns="76198" tIns="28574" rIns="76198" bIns="28574">
            <a:spAutoFit/>
          </a:bodyPr>
          <a:lstStyle/>
          <a:p>
            <a:pPr algn="l"/>
            <a:r>
              <a:rPr sz="1400" b="1" i="0" dirty="0">
                <a:solidFill>
                  <a:srgbClr val="E8C97A"/>
                </a:solidFill>
                <a:latin typeface="+mj-lt"/>
              </a:rPr>
              <a:t>Aerospike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0990" y="6336943"/>
            <a:ext cx="10351167" cy="361634"/>
          </a:xfrm>
          <a:prstGeom prst="rect">
            <a:avLst/>
          </a:prstGeom>
          <a:noFill/>
        </p:spPr>
        <p:txBody>
          <a:bodyPr wrap="none" lIns="0" tIns="114297" rIns="0" bIns="0">
            <a:spAutoFit/>
          </a:bodyPr>
          <a:lstStyle/>
          <a:p>
            <a:pPr algn="l"/>
            <a:r>
              <a:rPr sz="1600" b="0" i="1" dirty="0">
                <a:solidFill>
                  <a:srgbClr val="E8DFC8"/>
                </a:solidFill>
                <a:latin typeface="+mj-lt"/>
              </a:rPr>
              <a:t>Key-value stores are the simplest and fastest database model </a:t>
            </a:r>
            <a:r>
              <a:rPr lang="en-US" sz="16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a hash map at scale, optimized for high-throughput lookups.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9100" y="918864"/>
            <a:ext cx="5610225" cy="2575768"/>
          </a:xfrm>
          <a:prstGeom prst="roundRect">
            <a:avLst>
              <a:gd name="adj" fmla="val 2958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28625" y="928389"/>
            <a:ext cx="5591175" cy="28575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62675" y="918864"/>
            <a:ext cx="5610225" cy="2575768"/>
          </a:xfrm>
          <a:prstGeom prst="roundRect">
            <a:avLst>
              <a:gd name="adj" fmla="val 2958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928389"/>
            <a:ext cx="5591175" cy="28575"/>
          </a:xfrm>
          <a:prstGeom prst="roundRect">
            <a:avLst>
              <a:gd name="adj" fmla="val 50000"/>
            </a:avLst>
          </a:prstGeom>
          <a:solidFill>
            <a:srgbClr val="7A9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9100" y="3627983"/>
            <a:ext cx="5610225" cy="2575768"/>
          </a:xfrm>
          <a:prstGeom prst="roundRect">
            <a:avLst>
              <a:gd name="adj" fmla="val 2958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8625" y="3637508"/>
            <a:ext cx="5591175" cy="28575"/>
          </a:xfrm>
          <a:prstGeom prst="roundRect">
            <a:avLst>
              <a:gd name="adj" fmla="val 50000"/>
            </a:avLst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62675" y="3627983"/>
            <a:ext cx="5610225" cy="2575768"/>
          </a:xfrm>
          <a:prstGeom prst="roundRect">
            <a:avLst>
              <a:gd name="adj" fmla="val 2958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3637508"/>
            <a:ext cx="5591175" cy="28575"/>
          </a:xfrm>
          <a:prstGeom prst="roundRect">
            <a:avLst>
              <a:gd name="adj" fmla="val 50000"/>
            </a:avLst>
          </a:prstGeom>
          <a:solidFill>
            <a:srgbClr val="E8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678" y="4050107"/>
            <a:ext cx="73314" cy="8378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678" y="4273641"/>
            <a:ext cx="73314" cy="8378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678" y="4497175"/>
            <a:ext cx="73314" cy="8378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678" y="4720710"/>
            <a:ext cx="73314" cy="8378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678" y="4944244"/>
            <a:ext cx="73314" cy="8378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089" y="6427428"/>
            <a:ext cx="114297" cy="1142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8625" y="233260"/>
            <a:ext cx="4986493" cy="738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Document</a:t>
            </a:r>
            <a:r>
              <a:rPr sz="4800" b="1" i="0" dirty="0">
                <a:solidFill>
                  <a:srgbClr val="F0EAD6"/>
                </a:solidFill>
                <a:latin typeface="+mj-lt"/>
              </a:rPr>
              <a:t> Databases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0284" y="409564"/>
            <a:ext cx="790275" cy="323163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03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1010" y="1080762"/>
            <a:ext cx="101777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1" y="1080762"/>
            <a:ext cx="40222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10" y="3789813"/>
            <a:ext cx="41864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1" y="3789813"/>
            <a:ext cx="79656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4428" y="4018407"/>
            <a:ext cx="85241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C8BFA8"/>
                </a:solidFill>
                <a:latin typeface="+mj-lt"/>
              </a:rP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4428" y="4241941"/>
            <a:ext cx="77264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C8BFA8"/>
                </a:solidFill>
                <a:latin typeface="+mj-lt"/>
              </a:rPr>
              <a:t>CouchDB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4428" y="4465476"/>
            <a:ext cx="187006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C8BFA8"/>
                </a:solidFill>
                <a:latin typeface="+mj-lt"/>
              </a:rPr>
              <a:t>Amazon </a:t>
            </a:r>
            <a:r>
              <a:rPr sz="1600" b="1" i="0" dirty="0" err="1">
                <a:solidFill>
                  <a:srgbClr val="C8BFA8"/>
                </a:solidFill>
                <a:latin typeface="+mj-lt"/>
              </a:rPr>
              <a:t>DocumentDB</a:t>
            </a:r>
            <a:endParaRPr sz="1600" b="1" i="0" dirty="0">
              <a:solidFill>
                <a:srgbClr val="C8BFA8"/>
              </a:solidFill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84428" y="4689010"/>
            <a:ext cx="75091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C8BFA8"/>
                </a:solidFill>
                <a:latin typeface="+mj-lt"/>
              </a:rPr>
              <a:t>Firestore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4428" y="4912544"/>
            <a:ext cx="76783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 dirty="0" err="1">
                <a:solidFill>
                  <a:srgbClr val="C8BFA8"/>
                </a:solidFill>
                <a:latin typeface="+mj-lt"/>
              </a:rPr>
              <a:t>RavenDB</a:t>
            </a:r>
            <a:endParaRPr sz="1600" b="1" i="0" dirty="0">
              <a:solidFill>
                <a:srgbClr val="C8BFA8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3963" y="6375042"/>
            <a:ext cx="10521085" cy="284692"/>
          </a:xfrm>
          <a:prstGeom prst="rect">
            <a:avLst/>
          </a:prstGeom>
          <a:noFill/>
        </p:spPr>
        <p:txBody>
          <a:bodyPr wrap="none" lIns="0" tIns="38099" rIns="0" bIns="0">
            <a:spAutoFit/>
          </a:bodyPr>
          <a:lstStyle/>
          <a:p>
            <a:pPr algn="l"/>
            <a:r>
              <a:rPr sz="1600" b="0" i="0" dirty="0">
                <a:solidFill>
                  <a:srgbClr val="E8DFC8"/>
                </a:solidFill>
                <a:latin typeface="+mj-lt"/>
              </a:rPr>
              <a:t>Document databases store self-contained JSON-like records </a:t>
            </a:r>
            <a:r>
              <a:rPr lang="en-US" sz="1600" b="0" i="0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0" dirty="0">
                <a:solidFill>
                  <a:srgbClr val="E8DFC8"/>
                </a:solidFill>
                <a:latin typeface="+mj-lt"/>
              </a:rPr>
              <a:t> ideal for applications with evolving, hierarchical data structures.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010" y="1299832"/>
            <a:ext cx="5286242" cy="1052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34090" indent="-134090" algn="l">
              <a:lnSpc>
                <a:spcPts val="1262"/>
              </a:lnSpc>
              <a:spcBef>
                <a:spcPts val="0"/>
              </a:spcBef>
              <a:spcAft>
                <a:spcPts val="0"/>
              </a:spcAft>
              <a:buClr>
                <a:srgbClr val="9A9080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Content management systems</a:t>
            </a:r>
          </a:p>
          <a:p>
            <a:pPr marL="134090" indent="-134090" algn="l">
              <a:lnSpc>
                <a:spcPts val="1262"/>
              </a:lnSpc>
              <a:spcBef>
                <a:spcPts val="374"/>
              </a:spcBef>
              <a:spcAft>
                <a:spcPts val="0"/>
              </a:spcAft>
              <a:buClr>
                <a:srgbClr val="9A9080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User profiles</a:t>
            </a:r>
          </a:p>
          <a:p>
            <a:pPr marL="134090" indent="-134090" algn="l">
              <a:lnSpc>
                <a:spcPts val="1262"/>
              </a:lnSpc>
              <a:spcBef>
                <a:spcPts val="374"/>
              </a:spcBef>
              <a:spcAft>
                <a:spcPts val="0"/>
              </a:spcAft>
              <a:buClr>
                <a:srgbClr val="9A9080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Product catalogs</a:t>
            </a:r>
          </a:p>
          <a:p>
            <a:pPr marL="134090" indent="-134090" algn="l">
              <a:lnSpc>
                <a:spcPts val="1262"/>
              </a:lnSpc>
              <a:spcBef>
                <a:spcPts val="374"/>
              </a:spcBef>
              <a:spcAft>
                <a:spcPts val="0"/>
              </a:spcAft>
              <a:buClr>
                <a:srgbClr val="9A9080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Mobile app backends</a:t>
            </a:r>
          </a:p>
          <a:p>
            <a:pPr marL="134090" indent="-134090" algn="l">
              <a:lnSpc>
                <a:spcPts val="1262"/>
              </a:lnSpc>
              <a:spcBef>
                <a:spcPts val="374"/>
              </a:spcBef>
              <a:spcAft>
                <a:spcPts val="0"/>
              </a:spcAft>
              <a:buClr>
                <a:srgbClr val="9A9080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IoT event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1" y="1299832"/>
            <a:ext cx="5286242" cy="8322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34090" indent="-134090" algn="l">
              <a:lnSpc>
                <a:spcPts val="1262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Flexible schema per document</a:t>
            </a:r>
          </a:p>
          <a:p>
            <a:pPr marL="134090" indent="-134090" algn="l">
              <a:lnSpc>
                <a:spcPts val="1262"/>
              </a:lnSpc>
              <a:spcBef>
                <a:spcPts val="374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JSON/BSON maps naturally to application objects</a:t>
            </a:r>
          </a:p>
          <a:p>
            <a:pPr marL="134090" indent="-134090" algn="l">
              <a:lnSpc>
                <a:spcPts val="1262"/>
              </a:lnSpc>
              <a:spcBef>
                <a:spcPts val="374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Rich querying within documents</a:t>
            </a:r>
          </a:p>
          <a:p>
            <a:pPr marL="134090" indent="-134090" algn="l">
              <a:lnSpc>
                <a:spcPts val="1262"/>
              </a:lnSpc>
              <a:spcBef>
                <a:spcPts val="374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Horizontal scaling with sharding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010" y="4008882"/>
            <a:ext cx="5286242" cy="612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34090" indent="-134090" algn="l">
              <a:lnSpc>
                <a:spcPts val="1262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No cross-document transactions in all implementations</a:t>
            </a:r>
          </a:p>
          <a:p>
            <a:pPr marL="134090" indent="-134090" algn="l">
              <a:lnSpc>
                <a:spcPts val="1262"/>
              </a:lnSpc>
              <a:spcBef>
                <a:spcPts val="374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Data duplication via denormalization</a:t>
            </a:r>
          </a:p>
          <a:p>
            <a:pPr marL="134090" indent="-134090" algn="l">
              <a:lnSpc>
                <a:spcPts val="1262"/>
              </a:lnSpc>
              <a:spcBef>
                <a:spcPts val="374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Harder to enforce consistency</a:t>
            </a:r>
          </a:p>
        </p:txBody>
      </p:sp>
      <p:pic>
        <p:nvPicPr>
          <p:cNvPr id="32" name="Picture 13" descr="image.png">
            <a:extLst>
              <a:ext uri="{FF2B5EF4-FFF2-40B4-BE49-F238E27FC236}">
                <a16:creationId xmlns:a16="http://schemas.microsoft.com/office/drawing/2014/main" id="{65FAAC8C-8082-2291-A1C4-160B005F58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82" y="5133968"/>
            <a:ext cx="73314" cy="8378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F2A5FC3-8D8E-669D-9158-017B22912C51}"/>
              </a:ext>
            </a:extLst>
          </p:cNvPr>
          <p:cNvSpPr txBox="1"/>
          <p:nvPr/>
        </p:nvSpPr>
        <p:spPr>
          <a:xfrm>
            <a:off x="6487532" y="5102268"/>
            <a:ext cx="55213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 b="1" i="0" dirty="0" err="1">
                <a:solidFill>
                  <a:srgbClr val="C8BFA8"/>
                </a:solidFill>
                <a:latin typeface="+mj-lt"/>
              </a:rPr>
              <a:t>LiteDB</a:t>
            </a:r>
            <a:endParaRPr sz="1600" b="1" i="0" dirty="0">
              <a:solidFill>
                <a:srgbClr val="C8BFA8"/>
              </a:solidFill>
              <a:latin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15280"/>
            <a:ext cx="5657850" cy="2608510"/>
          </a:xfrm>
          <a:prstGeom prst="roundRect">
            <a:avLst>
              <a:gd name="adj" fmla="val 2921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0525" y="824805"/>
            <a:ext cx="5638800" cy="295275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987" y="922285"/>
            <a:ext cx="81225" cy="812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1262923"/>
            <a:ext cx="60869" cy="6086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1463985"/>
            <a:ext cx="60869" cy="6086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1665047"/>
            <a:ext cx="60869" cy="6086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1866109"/>
            <a:ext cx="60869" cy="6086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2067170"/>
            <a:ext cx="60869" cy="6086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53150" y="815280"/>
            <a:ext cx="5657850" cy="2608510"/>
          </a:xfrm>
          <a:prstGeom prst="roundRect">
            <a:avLst>
              <a:gd name="adj" fmla="val 2921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62675" y="824805"/>
            <a:ext cx="5638800" cy="295275"/>
          </a:xfrm>
          <a:prstGeom prst="rect">
            <a:avLst/>
          </a:prstGeom>
          <a:solidFill>
            <a:srgbClr val="4A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4917" y="917204"/>
            <a:ext cx="91378" cy="9137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4917" y="1262923"/>
            <a:ext cx="60869" cy="6086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4917" y="1463985"/>
            <a:ext cx="60869" cy="6086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4917" y="1665047"/>
            <a:ext cx="60869" cy="6086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4917" y="1866109"/>
            <a:ext cx="60869" cy="6086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81000" y="3538091"/>
            <a:ext cx="5657850" cy="2608510"/>
          </a:xfrm>
          <a:prstGeom prst="roundRect">
            <a:avLst>
              <a:gd name="adj" fmla="val 2921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0525" y="3547616"/>
            <a:ext cx="5638800" cy="295275"/>
          </a:xfrm>
          <a:prstGeom prst="rect">
            <a:avLst/>
          </a:prstGeom>
          <a:solidFill>
            <a:srgbClr val="8B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911" y="3639947"/>
            <a:ext cx="91378" cy="9137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911" y="3985666"/>
            <a:ext cx="60869" cy="6086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911" y="4186728"/>
            <a:ext cx="60869" cy="6086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911" y="4387789"/>
            <a:ext cx="60869" cy="6086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911" y="4588851"/>
            <a:ext cx="60869" cy="6086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153150" y="3538091"/>
            <a:ext cx="5657850" cy="2608510"/>
          </a:xfrm>
          <a:prstGeom prst="roundRect">
            <a:avLst>
              <a:gd name="adj" fmla="val 2921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62675" y="3547616"/>
            <a:ext cx="5638800" cy="295275"/>
          </a:xfrm>
          <a:prstGeom prst="rect">
            <a:avLst/>
          </a:prstGeom>
          <a:solidFill>
            <a:srgbClr val="7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0628" y="3639947"/>
            <a:ext cx="79955" cy="91378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4917" y="3985666"/>
            <a:ext cx="60869" cy="6086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4917" y="4186728"/>
            <a:ext cx="60869" cy="6086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4917" y="4387789"/>
            <a:ext cx="60869" cy="6086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4917" y="4588851"/>
            <a:ext cx="60869" cy="6086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0990" y="285742"/>
            <a:ext cx="5498557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0EAD6"/>
                </a:solidFill>
                <a:latin typeface="+mj-lt"/>
              </a:rPr>
              <a:t>Column-Family Databases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6775" y="352416"/>
            <a:ext cx="790275" cy="323163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04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0487" y="900982"/>
            <a:ext cx="101777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814"/>
                </a:solidFill>
                <a:latin typeface="+mj-lt"/>
              </a:rPr>
              <a:t>TYPICAL USES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978" y="1224824"/>
            <a:ext cx="156433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IoT sensor streams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978" y="1425886"/>
            <a:ext cx="82715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Audit 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978" y="1626948"/>
            <a:ext cx="216642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Recommendation engines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978" y="1828010"/>
            <a:ext cx="169713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Large-scale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978" y="2029071"/>
            <a:ext cx="192572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Write-heavy workloads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2493" y="900982"/>
            <a:ext cx="40222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6F3E7"/>
                </a:solidFill>
                <a:latin typeface="+mj-lt"/>
              </a:rPr>
              <a:t>PROS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1984" y="1224824"/>
            <a:ext cx="308411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Optimized for write-heavy workloads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1984" y="1425886"/>
            <a:ext cx="289637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Efficient column-level compression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1984" y="1626948"/>
            <a:ext cx="241912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Massive horizontal scalability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1984" y="1828010"/>
            <a:ext cx="16642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Tunable consistency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7" y="3623725"/>
            <a:ext cx="41864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F6F3E7"/>
                </a:solidFill>
                <a:latin typeface="+mj-lt"/>
              </a:rPr>
              <a:t>CONS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978" y="3947567"/>
            <a:ext cx="359124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Complex data modeling (query-first design)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978" y="4148629"/>
            <a:ext cx="246586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Limited ad-hoc query support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9978" y="4349690"/>
            <a:ext cx="170495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Steep learning curve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9978" y="4550752"/>
            <a:ext cx="75501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No JOINs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82493" y="3623725"/>
            <a:ext cx="79656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1ECD9"/>
                </a:solidFill>
                <a:latin typeface="+mj-lt"/>
              </a:rPr>
              <a:t>EXAMPLES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1984" y="3947567"/>
            <a:ext cx="151220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Apache Cassandra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51984" y="4148629"/>
            <a:ext cx="118782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Apache HBase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51984" y="4349690"/>
            <a:ext cx="131209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Google Bigtable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1984" y="4550752"/>
            <a:ext cx="70371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ScyllaDB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0990" y="6451240"/>
            <a:ext cx="1162106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1" dirty="0">
                <a:solidFill>
                  <a:srgbClr val="E8DFC8"/>
                </a:solidFill>
                <a:latin typeface="+mj-lt"/>
              </a:rPr>
              <a:t>Column-family databases group data by columns </a:t>
            </a:r>
            <a:r>
              <a:rPr lang="en-US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b="0" i="1" dirty="0">
                <a:solidFill>
                  <a:srgbClr val="E8DFC8"/>
                </a:solidFill>
                <a:latin typeface="+mj-lt"/>
              </a:rPr>
              <a:t> purpose-built for write-intensive, high-volume workloads at global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45790"/>
            <a:ext cx="5648325" cy="2567433"/>
          </a:xfrm>
          <a:prstGeom prst="roundRect">
            <a:avLst>
              <a:gd name="adj" fmla="val 2967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61" y="980537"/>
            <a:ext cx="106558" cy="828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1312482"/>
            <a:ext cx="53279" cy="532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1522920"/>
            <a:ext cx="53279" cy="532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1733357"/>
            <a:ext cx="53279" cy="532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1943795"/>
            <a:ext cx="53279" cy="5327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2154233"/>
            <a:ext cx="53279" cy="532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1000" y="3546574"/>
            <a:ext cx="5648325" cy="2567433"/>
          </a:xfrm>
          <a:prstGeom prst="roundRect">
            <a:avLst>
              <a:gd name="adj" fmla="val 2967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69" y="3676074"/>
            <a:ext cx="106550" cy="9323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4013198"/>
            <a:ext cx="53279" cy="5327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4223636"/>
            <a:ext cx="53279" cy="5327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4434074"/>
            <a:ext cx="53279" cy="5327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4644511"/>
            <a:ext cx="53279" cy="5327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2675" y="845790"/>
            <a:ext cx="5648325" cy="2567433"/>
          </a:xfrm>
          <a:prstGeom prst="roundRect">
            <a:avLst>
              <a:gd name="adj" fmla="val 2967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392" y="968698"/>
            <a:ext cx="106558" cy="10655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5392" y="1312482"/>
            <a:ext cx="53279" cy="5327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5392" y="1522920"/>
            <a:ext cx="53279" cy="5327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5392" y="1733357"/>
            <a:ext cx="53279" cy="5327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5392" y="1943795"/>
            <a:ext cx="53279" cy="5327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62675" y="3546574"/>
            <a:ext cx="5648325" cy="2567433"/>
          </a:xfrm>
          <a:prstGeom prst="roundRect">
            <a:avLst>
              <a:gd name="adj" fmla="val 2967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2052" y="3669414"/>
            <a:ext cx="93238" cy="10655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2511" y="41607"/>
            <a:ext cx="3418372" cy="738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Graph</a:t>
            </a:r>
            <a:r>
              <a:rPr sz="4800" b="1" i="0" dirty="0">
                <a:solidFill>
                  <a:srgbClr val="F0EAD6"/>
                </a:solidFill>
                <a:latin typeface="+mj-lt"/>
              </a:rPr>
              <a:t> </a:t>
            </a:r>
            <a:r>
              <a:rPr sz="3600" b="1" i="0" dirty="0">
                <a:solidFill>
                  <a:srgbClr val="F0EAD6"/>
                </a:solidFill>
                <a:latin typeface="+mj-lt"/>
              </a:rPr>
              <a:t>Databases</a:t>
            </a:r>
            <a:endParaRPr sz="4800" b="1" i="0" dirty="0">
              <a:solidFill>
                <a:srgbClr val="F0EAD6"/>
              </a:solidFill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04989" y="352416"/>
            <a:ext cx="790275" cy="323163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05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6618" y="960066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14" y="1274383"/>
            <a:ext cx="130311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Social networks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14" y="1484821"/>
            <a:ext cx="131818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Fraud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814" y="1695258"/>
            <a:ext cx="216642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Recommendation engines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814" y="1905696"/>
            <a:ext cx="152407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Knowledge graphs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14" y="2116134"/>
            <a:ext cx="170681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IT topology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618" y="3660782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14" y="3975099"/>
            <a:ext cx="361996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Poor performance for non-graph workloads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14" y="4185537"/>
            <a:ext cx="154087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Limited ecosystem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814" y="4395975"/>
            <a:ext cx="324460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Scaling challenges for very large graphs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814" y="4606412"/>
            <a:ext cx="187968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Steeper learning curve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8148" y="960066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5344" y="1274383"/>
            <a:ext cx="387118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Native relationship traversal — no costly JOINs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5344" y="1484821"/>
            <a:ext cx="306712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Intuitive modeling of connected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5344" y="1695258"/>
            <a:ext cx="227453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Excellent multi-hop queries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5344" y="1905696"/>
            <a:ext cx="250607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Flexible property graph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8148" y="3660782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Examples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4917" y="3975099"/>
            <a:ext cx="615547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Neo4j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0720" y="4295183"/>
            <a:ext cx="1466165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Amazon Neptune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0720" y="4557140"/>
            <a:ext cx="920823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 err="1">
                <a:solidFill>
                  <a:srgbClr val="C9A84C"/>
                </a:solidFill>
                <a:latin typeface="+mj-lt"/>
              </a:rPr>
              <a:t>ArangoDB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30720" y="4827066"/>
            <a:ext cx="1039574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 err="1">
                <a:solidFill>
                  <a:srgbClr val="C9A84C"/>
                </a:solidFill>
                <a:latin typeface="+mj-lt"/>
              </a:rPr>
              <a:t>JanusGraph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51719" y="5104688"/>
            <a:ext cx="997575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 err="1">
                <a:solidFill>
                  <a:srgbClr val="C9A84C"/>
                </a:solidFill>
                <a:latin typeface="+mj-lt"/>
              </a:rPr>
              <a:t>TigerGraph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98125" y="6409122"/>
            <a:ext cx="1146519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1" dirty="0">
                <a:solidFill>
                  <a:srgbClr val="E8DFC8"/>
                </a:solidFill>
                <a:latin typeface="+mj-lt"/>
              </a:rPr>
              <a:t>Graph databases treat relationships as first-class citizens </a:t>
            </a:r>
            <a:r>
              <a:rPr lang="en-US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b="0" i="1" dirty="0">
                <a:solidFill>
                  <a:srgbClr val="E8DFC8"/>
                </a:solidFill>
                <a:latin typeface="+mj-lt"/>
              </a:rPr>
              <a:t> making complex network traversals fast and intuitive to model.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406295-9212-DD89-8D0E-18D68BC7B758}"/>
              </a:ext>
            </a:extLst>
          </p:cNvPr>
          <p:cNvSpPr txBox="1"/>
          <p:nvPr/>
        </p:nvSpPr>
        <p:spPr>
          <a:xfrm>
            <a:off x="6330720" y="5408943"/>
            <a:ext cx="974556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lang="en-US" sz="1400" b="1" i="0" dirty="0">
                <a:solidFill>
                  <a:srgbClr val="C9A84C"/>
                </a:solidFill>
                <a:latin typeface="+mj-lt"/>
              </a:rPr>
              <a:t>SQL Server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2900" y="845790"/>
            <a:ext cx="5695950" cy="2562671"/>
          </a:xfrm>
          <a:prstGeom prst="roundRect">
            <a:avLst>
              <a:gd name="adj" fmla="val 297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52425" y="855315"/>
            <a:ext cx="5676900" cy="28575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53150" y="845790"/>
            <a:ext cx="5695950" cy="2562671"/>
          </a:xfrm>
          <a:prstGeom prst="roundRect">
            <a:avLst>
              <a:gd name="adj" fmla="val 297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62675" y="855315"/>
            <a:ext cx="5676900" cy="28575"/>
          </a:xfrm>
          <a:prstGeom prst="roundRect">
            <a:avLst>
              <a:gd name="adj" fmla="val 50000"/>
            </a:avLst>
          </a:prstGeom>
          <a:solidFill>
            <a:srgbClr val="7A9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2900" y="3522761"/>
            <a:ext cx="5695950" cy="2562671"/>
          </a:xfrm>
          <a:prstGeom prst="roundRect">
            <a:avLst>
              <a:gd name="adj" fmla="val 297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2425" y="3532286"/>
            <a:ext cx="5676900" cy="28575"/>
          </a:xfrm>
          <a:prstGeom prst="roundRect">
            <a:avLst>
              <a:gd name="adj" fmla="val 50000"/>
            </a:avLst>
          </a:prstGeom>
          <a:solidFill>
            <a:srgbClr val="C1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53150" y="3522761"/>
            <a:ext cx="5695950" cy="2562671"/>
          </a:xfrm>
          <a:prstGeom prst="roundRect">
            <a:avLst>
              <a:gd name="adj" fmla="val 297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62675" y="3532286"/>
            <a:ext cx="5676900" cy="28575"/>
          </a:xfrm>
          <a:prstGeom prst="roundRect">
            <a:avLst>
              <a:gd name="adj" fmla="val 50000"/>
            </a:avLst>
          </a:prstGeom>
          <a:solidFill>
            <a:srgbClr val="E8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296025" y="3951386"/>
            <a:ext cx="57150" cy="57150"/>
          </a:xfrm>
          <a:prstGeom prst="ellipse">
            <a:avLst/>
          </a:prstGeom>
          <a:solidFill>
            <a:srgbClr val="E8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96025" y="4151411"/>
            <a:ext cx="57150" cy="57150"/>
          </a:xfrm>
          <a:prstGeom prst="ellipse">
            <a:avLst/>
          </a:prstGeom>
          <a:solidFill>
            <a:srgbClr val="E8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296025" y="4351436"/>
            <a:ext cx="57150" cy="57150"/>
          </a:xfrm>
          <a:prstGeom prst="ellipse">
            <a:avLst/>
          </a:prstGeom>
          <a:solidFill>
            <a:srgbClr val="E8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296025" y="4551461"/>
            <a:ext cx="57150" cy="57150"/>
          </a:xfrm>
          <a:prstGeom prst="ellipse">
            <a:avLst/>
          </a:prstGeom>
          <a:solidFill>
            <a:srgbClr val="E8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296025" y="4751486"/>
            <a:ext cx="57150" cy="57150"/>
          </a:xfrm>
          <a:prstGeom prst="ellipse">
            <a:avLst/>
          </a:prstGeom>
          <a:solidFill>
            <a:srgbClr val="E8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2900" y="6237833"/>
            <a:ext cx="11506200" cy="391566"/>
          </a:xfrm>
          <a:prstGeom prst="rect">
            <a:avLst/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2900" y="6237833"/>
            <a:ext cx="38100" cy="3915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2891" y="266693"/>
            <a:ext cx="4097853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NewSQL Databases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88182" y="352416"/>
            <a:ext cx="790275" cy="303927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06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5762" y="998165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867" y="998165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762" y="3675069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5867" y="3675069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689" y="3903664"/>
            <a:ext cx="14972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 dirty="0">
                <a:solidFill>
                  <a:srgbClr val="C8BFA8"/>
                </a:solidFill>
                <a:latin typeface="+mj-lt"/>
              </a:rPr>
              <a:t>Google Spanner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689" y="4103684"/>
            <a:ext cx="124341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CockroachDB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689" y="4303704"/>
            <a:ext cx="11223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YugabyteDB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689" y="4503724"/>
            <a:ext cx="43281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TiDB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689" y="4703744"/>
            <a:ext cx="64113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VoltDB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861" y="6351974"/>
            <a:ext cx="1135253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1" dirty="0">
                <a:solidFill>
                  <a:srgbClr val="E8DFC8"/>
                </a:solidFill>
                <a:latin typeface="+mj-lt"/>
              </a:rPr>
              <a:t>NewSQL combines relational ACID guarantees with NoSQL horizontal scalability </a:t>
            </a:r>
            <a:r>
              <a:rPr lang="en-US" sz="16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the best of both worlds for modern cloud applications.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762" y="1226759"/>
            <a:ext cx="5410064" cy="8331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7542" indent="-127542"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99999"/>
              <a:buFont typeface="Inter" charset="0"/>
              <a:buChar char="●"/>
            </a:pPr>
            <a:r>
              <a:rPr b="0" i="0" dirty="0">
                <a:solidFill>
                  <a:srgbClr val="C8BFA8"/>
                </a:solidFill>
                <a:latin typeface="+mj-lt"/>
              </a:rPr>
              <a:t>Financial transactions at cloud scale</a:t>
            </a:r>
          </a:p>
          <a:p>
            <a:pPr marL="127542" indent="-127542" algn="l">
              <a:lnSpc>
                <a:spcPts val="1281"/>
              </a:lnSpc>
              <a:spcBef>
                <a:spcPts val="374"/>
              </a:spcBef>
              <a:spcAft>
                <a:spcPts val="0"/>
              </a:spcAft>
              <a:buClr>
                <a:srgbClr val="C9A84C"/>
              </a:buClr>
              <a:buSzPct val="99999"/>
              <a:buFont typeface="Inter" charset="0"/>
              <a:buChar char="●"/>
            </a:pPr>
            <a:r>
              <a:rPr b="0" i="0" dirty="0">
                <a:solidFill>
                  <a:srgbClr val="C8BFA8"/>
                </a:solidFill>
                <a:latin typeface="+mj-lt"/>
              </a:rPr>
              <a:t>Global e-commerce</a:t>
            </a:r>
          </a:p>
          <a:p>
            <a:pPr marL="127542" indent="-127542" algn="l">
              <a:lnSpc>
                <a:spcPts val="1281"/>
              </a:lnSpc>
              <a:spcBef>
                <a:spcPts val="374"/>
              </a:spcBef>
              <a:spcAft>
                <a:spcPts val="0"/>
              </a:spcAft>
              <a:buClr>
                <a:srgbClr val="C9A84C"/>
              </a:buClr>
              <a:buSzPct val="99999"/>
              <a:buFont typeface="Inter" charset="0"/>
              <a:buChar char="●"/>
            </a:pPr>
            <a:r>
              <a:rPr b="0" i="0" dirty="0">
                <a:solidFill>
                  <a:srgbClr val="C8BFA8"/>
                </a:solidFill>
                <a:latin typeface="+mj-lt"/>
              </a:rPr>
              <a:t>Distributed SaaS applications</a:t>
            </a:r>
          </a:p>
          <a:p>
            <a:pPr marL="127542" indent="-127542" algn="l">
              <a:lnSpc>
                <a:spcPts val="1281"/>
              </a:lnSpc>
              <a:spcBef>
                <a:spcPts val="374"/>
              </a:spcBef>
              <a:spcAft>
                <a:spcPts val="0"/>
              </a:spcAft>
              <a:buClr>
                <a:srgbClr val="C9A84C"/>
              </a:buClr>
              <a:buSzPct val="99999"/>
              <a:buFont typeface="Inter" charset="0"/>
              <a:buChar char="●"/>
            </a:pPr>
            <a:r>
              <a:rPr b="0" i="0" dirty="0">
                <a:solidFill>
                  <a:srgbClr val="C8BFA8"/>
                </a:solidFill>
                <a:latin typeface="+mj-lt"/>
              </a:rPr>
              <a:t>Multi-region ACID workloads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5867" y="1226759"/>
            <a:ext cx="5410064" cy="8331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7542" indent="-127542"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99999"/>
              <a:buFont typeface="Inter" charset="0"/>
              <a:buChar char="●"/>
            </a:pPr>
            <a:r>
              <a:rPr b="0" i="0">
                <a:solidFill>
                  <a:srgbClr val="C8BFA8"/>
                </a:solidFill>
                <a:latin typeface="+mj-lt"/>
              </a:rPr>
              <a:t>Full ACID compliance at distributed scale</a:t>
            </a:r>
          </a:p>
          <a:p>
            <a:pPr marL="127542" indent="-127542" algn="l">
              <a:lnSpc>
                <a:spcPts val="1281"/>
              </a:lnSpc>
              <a:spcBef>
                <a:spcPts val="374"/>
              </a:spcBef>
              <a:spcAft>
                <a:spcPts val="0"/>
              </a:spcAft>
              <a:buClr>
                <a:srgbClr val="7A9E7E"/>
              </a:buClr>
              <a:buSzPct val="99999"/>
              <a:buFont typeface="Inter" charset="0"/>
              <a:buChar char="●"/>
            </a:pPr>
            <a:r>
              <a:rPr b="0" i="0">
                <a:solidFill>
                  <a:srgbClr val="C8BFA8"/>
                </a:solidFill>
                <a:latin typeface="+mj-lt"/>
              </a:rPr>
              <a:t>Familiar SQL interface</a:t>
            </a:r>
          </a:p>
          <a:p>
            <a:pPr marL="127542" indent="-127542" algn="l">
              <a:lnSpc>
                <a:spcPts val="1281"/>
              </a:lnSpc>
              <a:spcBef>
                <a:spcPts val="374"/>
              </a:spcBef>
              <a:spcAft>
                <a:spcPts val="0"/>
              </a:spcAft>
              <a:buClr>
                <a:srgbClr val="7A9E7E"/>
              </a:buClr>
              <a:buSzPct val="99999"/>
              <a:buFont typeface="Inter" charset="0"/>
              <a:buChar char="●"/>
            </a:pPr>
            <a:r>
              <a:rPr b="0" i="0">
                <a:solidFill>
                  <a:srgbClr val="C8BFA8"/>
                </a:solidFill>
                <a:latin typeface="+mj-lt"/>
              </a:rPr>
              <a:t>Horizontal scalability of NoSQL</a:t>
            </a:r>
          </a:p>
          <a:p>
            <a:pPr marL="127542" indent="-127542" algn="l">
              <a:lnSpc>
                <a:spcPts val="1281"/>
              </a:lnSpc>
              <a:spcBef>
                <a:spcPts val="374"/>
              </a:spcBef>
              <a:spcAft>
                <a:spcPts val="0"/>
              </a:spcAft>
              <a:buClr>
                <a:srgbClr val="7A9E7E"/>
              </a:buClr>
              <a:buSzPct val="99999"/>
              <a:buFont typeface="Inter" charset="0"/>
              <a:buChar char="●"/>
            </a:pPr>
            <a:r>
              <a:rPr b="0" i="0">
                <a:solidFill>
                  <a:srgbClr val="C8BFA8"/>
                </a:solidFill>
                <a:latin typeface="+mj-lt"/>
              </a:rPr>
              <a:t>Strong consistency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762" y="3903664"/>
            <a:ext cx="5410064" cy="8331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7542" indent="-127542"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99999"/>
              <a:buFont typeface="Inter" charset="0"/>
              <a:buChar char="●"/>
            </a:pPr>
            <a:r>
              <a:rPr b="0" i="0">
                <a:solidFill>
                  <a:srgbClr val="C8BFA8"/>
                </a:solidFill>
                <a:latin typeface="+mj-lt"/>
              </a:rPr>
              <a:t>Higher operational complexity</a:t>
            </a:r>
          </a:p>
          <a:p>
            <a:pPr marL="127542" indent="-127542" algn="l">
              <a:lnSpc>
                <a:spcPts val="1281"/>
              </a:lnSpc>
              <a:spcBef>
                <a:spcPts val="374"/>
              </a:spcBef>
              <a:spcAft>
                <a:spcPts val="0"/>
              </a:spcAft>
              <a:buClr>
                <a:srgbClr val="C17171"/>
              </a:buClr>
              <a:buSzPct val="99999"/>
              <a:buFont typeface="Inter" charset="0"/>
              <a:buChar char="●"/>
            </a:pPr>
            <a:r>
              <a:rPr b="0" i="0">
                <a:solidFill>
                  <a:srgbClr val="C8BFA8"/>
                </a:solidFill>
                <a:latin typeface="+mj-lt"/>
              </a:rPr>
              <a:t>Newer and smaller ecosystem</a:t>
            </a:r>
          </a:p>
          <a:p>
            <a:pPr marL="127542" indent="-127542" algn="l">
              <a:lnSpc>
                <a:spcPts val="1281"/>
              </a:lnSpc>
              <a:spcBef>
                <a:spcPts val="374"/>
              </a:spcBef>
              <a:spcAft>
                <a:spcPts val="0"/>
              </a:spcAft>
              <a:buClr>
                <a:srgbClr val="C17171"/>
              </a:buClr>
              <a:buSzPct val="99999"/>
              <a:buFont typeface="Inter" charset="0"/>
              <a:buChar char="●"/>
            </a:pPr>
            <a:r>
              <a:rPr b="0" i="0">
                <a:solidFill>
                  <a:srgbClr val="C8BFA8"/>
                </a:solidFill>
                <a:latin typeface="+mj-lt"/>
              </a:rPr>
              <a:t>Higher cost at small scale</a:t>
            </a:r>
          </a:p>
          <a:p>
            <a:pPr marL="127542" indent="-127542" algn="l">
              <a:lnSpc>
                <a:spcPts val="1281"/>
              </a:lnSpc>
              <a:spcBef>
                <a:spcPts val="374"/>
              </a:spcBef>
              <a:spcAft>
                <a:spcPts val="0"/>
              </a:spcAft>
              <a:buClr>
                <a:srgbClr val="C17171"/>
              </a:buClr>
              <a:buSzPct val="99999"/>
              <a:buFont typeface="Inter" charset="0"/>
              <a:buChar char="●"/>
            </a:pPr>
            <a:r>
              <a:rPr b="0" i="0">
                <a:solidFill>
                  <a:srgbClr val="C8BFA8"/>
                </a:solidFill>
                <a:latin typeface="+mj-lt"/>
              </a:rPr>
              <a:t>Vendor lock-in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45790"/>
            <a:ext cx="5657850" cy="2599432"/>
          </a:xfrm>
          <a:prstGeom prst="roundRect">
            <a:avLst>
              <a:gd name="adj" fmla="val 2931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911" y="969590"/>
            <a:ext cx="114297" cy="11429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1322007"/>
            <a:ext cx="68459" cy="6845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1536016"/>
            <a:ext cx="68459" cy="6845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1750026"/>
            <a:ext cx="68459" cy="6845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1964035"/>
            <a:ext cx="68459" cy="6845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2178045"/>
            <a:ext cx="68459" cy="684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53150" y="845790"/>
            <a:ext cx="5657850" cy="2599432"/>
          </a:xfrm>
          <a:prstGeom prst="roundRect">
            <a:avLst>
              <a:gd name="adj" fmla="val 2931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4917" y="969590"/>
            <a:ext cx="114297" cy="11429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4917" y="1322007"/>
            <a:ext cx="68459" cy="6845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4917" y="1536016"/>
            <a:ext cx="68459" cy="6845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4917" y="1750026"/>
            <a:ext cx="68459" cy="6845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4917" y="1964035"/>
            <a:ext cx="68459" cy="6845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81000" y="3559522"/>
            <a:ext cx="5657850" cy="2599432"/>
          </a:xfrm>
          <a:prstGeom prst="roundRect">
            <a:avLst>
              <a:gd name="adj" fmla="val 2931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911" y="3683255"/>
            <a:ext cx="114297" cy="114297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4035671"/>
            <a:ext cx="68459" cy="6845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4249680"/>
            <a:ext cx="68459" cy="6845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4463690"/>
            <a:ext cx="68459" cy="6845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11" y="4677699"/>
            <a:ext cx="68459" cy="6845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53150" y="3559522"/>
            <a:ext cx="5657850" cy="2599432"/>
          </a:xfrm>
          <a:prstGeom prst="roundRect">
            <a:avLst>
              <a:gd name="adj" fmla="val 2931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2060" y="3683255"/>
            <a:ext cx="100009" cy="114297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315075" y="3988147"/>
            <a:ext cx="660201" cy="209550"/>
          </a:xfrm>
          <a:prstGeom prst="roundRect">
            <a:avLst>
              <a:gd name="adj" fmla="val 18181"/>
            </a:avLst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5893" y="4398073"/>
            <a:ext cx="907702" cy="209550"/>
          </a:xfrm>
          <a:prstGeom prst="roundRect">
            <a:avLst>
              <a:gd name="adj" fmla="val 18181"/>
            </a:avLst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357178" y="4809928"/>
            <a:ext cx="1072844" cy="209550"/>
          </a:xfrm>
          <a:prstGeom prst="roundRect">
            <a:avLst>
              <a:gd name="adj" fmla="val 18181"/>
            </a:avLst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48842" y="5100116"/>
            <a:ext cx="1046872" cy="209550"/>
          </a:xfrm>
          <a:prstGeom prst="roundRect">
            <a:avLst>
              <a:gd name="adj" fmla="val 18181"/>
            </a:avLst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372064" y="5535993"/>
            <a:ext cx="837452" cy="201135"/>
          </a:xfrm>
          <a:prstGeom prst="roundRect">
            <a:avLst>
              <a:gd name="adj" fmla="val 18181"/>
            </a:avLst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990" y="6467313"/>
            <a:ext cx="232067" cy="23206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0990" y="266693"/>
            <a:ext cx="5257337" cy="738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Time-Series</a:t>
            </a:r>
            <a:r>
              <a:rPr sz="4800" b="1" i="0" dirty="0">
                <a:solidFill>
                  <a:srgbClr val="F0EAD6"/>
                </a:solidFill>
                <a:latin typeface="+mj-lt"/>
              </a:rPr>
              <a:t> Databases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60203" y="352416"/>
            <a:ext cx="790275" cy="323163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07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3406" y="960066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043" y="1283908"/>
            <a:ext cx="303576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Application performance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043" y="1497917"/>
            <a:ext cx="127156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IoT sensor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043" y="1711927"/>
            <a:ext cx="178164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Financial market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043" y="1925936"/>
            <a:ext cx="181267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Infrastructure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043" y="2139946"/>
            <a:ext cx="164814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Industrial telemetry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412" y="960066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0049" y="1283908"/>
            <a:ext cx="484190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Optimized storage and compression for time-ordered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0049" y="1497917"/>
            <a:ext cx="315304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Fast range queries over time windows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0049" y="1711927"/>
            <a:ext cx="304339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Built-in downsampling and retention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0049" y="1925936"/>
            <a:ext cx="191783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High ingest throughput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406" y="3673730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043" y="3997572"/>
            <a:ext cx="350647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Limited use outside time-series workloads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043" y="4211581"/>
            <a:ext cx="271625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Weaker general-purpose queries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043" y="4425591"/>
            <a:ext cx="348608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Data modeling tied to time as primary key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043" y="4639600"/>
            <a:ext cx="177054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Retention complexity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5412" y="3673730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4441" y="3997572"/>
            <a:ext cx="829388" cy="273150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400" b="1" i="0">
                <a:solidFill>
                  <a:srgbClr val="F0EAD6"/>
                </a:solidFill>
                <a:latin typeface="+mj-lt"/>
              </a:rPr>
              <a:t>InfluxDB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4906" y="4388292"/>
            <a:ext cx="1145116" cy="273150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400" b="1" i="0" dirty="0" err="1">
                <a:solidFill>
                  <a:srgbClr val="F0EAD6"/>
                </a:solidFill>
                <a:latin typeface="+mj-lt"/>
              </a:rPr>
              <a:t>TimescaleDB</a:t>
            </a:r>
            <a:endParaRPr sz="1400" b="1" i="0" dirty="0">
              <a:solidFill>
                <a:srgbClr val="F0EAD6"/>
              </a:solidFill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4906" y="4762710"/>
            <a:ext cx="1097859" cy="273150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400" b="1" i="0" dirty="0">
                <a:solidFill>
                  <a:srgbClr val="F0EAD6"/>
                </a:solidFill>
                <a:latin typeface="+mj-lt"/>
              </a:rPr>
              <a:t>Prometheus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8074" y="5094605"/>
            <a:ext cx="983340" cy="273150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400" b="1" i="0" dirty="0">
                <a:solidFill>
                  <a:srgbClr val="F0EAD6"/>
                </a:solidFill>
                <a:latin typeface="+mj-lt"/>
              </a:rPr>
              <a:t>OpenTSDB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2060" y="5463978"/>
            <a:ext cx="849201" cy="273150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400" b="1" i="0" dirty="0" err="1">
                <a:solidFill>
                  <a:srgbClr val="F0EAD6"/>
                </a:solidFill>
                <a:latin typeface="+mj-lt"/>
              </a:rPr>
              <a:t>QuestDB</a:t>
            </a:r>
            <a:endParaRPr sz="1400" b="1" i="0" dirty="0">
              <a:solidFill>
                <a:srgbClr val="F0EAD6"/>
              </a:solidFill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4383" y="6444394"/>
            <a:ext cx="1118607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1" dirty="0">
                <a:solidFill>
                  <a:srgbClr val="E8DFC8"/>
                </a:solidFill>
                <a:latin typeface="+mj-lt"/>
              </a:rPr>
              <a:t>Time-series databases are engineered for the relentless stream of timestamped data </a:t>
            </a:r>
            <a:r>
              <a:rPr lang="en-US" sz="16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with unmatched compression and query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781347"/>
            <a:ext cx="5665589" cy="2680841"/>
          </a:xfrm>
          <a:prstGeom prst="roundRect">
            <a:avLst>
              <a:gd name="adj" fmla="val 284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0525" y="790872"/>
            <a:ext cx="5646539" cy="28575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45559" y="781347"/>
            <a:ext cx="5665589" cy="2680841"/>
          </a:xfrm>
          <a:prstGeom prst="roundRect">
            <a:avLst>
              <a:gd name="adj" fmla="val 284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55084" y="790872"/>
            <a:ext cx="5646539" cy="28575"/>
          </a:xfrm>
          <a:prstGeom prst="rect">
            <a:avLst/>
          </a:prstGeom>
          <a:solidFill>
            <a:srgbClr val="7A9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3561159"/>
            <a:ext cx="5665589" cy="2680841"/>
          </a:xfrm>
          <a:prstGeom prst="roundRect">
            <a:avLst>
              <a:gd name="adj" fmla="val 284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0525" y="3570684"/>
            <a:ext cx="5646539" cy="28575"/>
          </a:xfrm>
          <a:prstGeom prst="rect">
            <a:avLst/>
          </a:prstGeom>
          <a:solidFill>
            <a:srgbClr val="B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45559" y="3561159"/>
            <a:ext cx="5665589" cy="2680841"/>
          </a:xfrm>
          <a:prstGeom prst="roundRect">
            <a:avLst>
              <a:gd name="adj" fmla="val 284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55084" y="3570684"/>
            <a:ext cx="5646539" cy="28575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284565" y="3916709"/>
            <a:ext cx="47625" cy="47625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84565" y="4115841"/>
            <a:ext cx="47625" cy="47625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284565" y="4314973"/>
            <a:ext cx="47625" cy="47625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284565" y="4514105"/>
            <a:ext cx="47625" cy="47625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557" y="6474456"/>
            <a:ext cx="119933" cy="1370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9523" y="137592"/>
            <a:ext cx="5762860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Object-Oriented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50083" y="352416"/>
            <a:ext cx="790275" cy="303927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08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9992" y="827953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8067" y="827953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992" y="3623797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4408" y="3651780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D4A843"/>
                </a:solidFill>
                <a:latin typeface="+mj-lt"/>
              </a:rPr>
              <a:t>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491" y="3873303"/>
            <a:ext cx="42800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db4o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491" y="4072430"/>
            <a:ext cx="79028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ObjectDB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491" y="4271557"/>
            <a:ext cx="204940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Versant Object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491" y="4470685"/>
            <a:ext cx="104958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GemStone/S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54" y="6466420"/>
            <a:ext cx="1157490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1" dirty="0">
                <a:solidFill>
                  <a:srgbClr val="E8DFC8"/>
                </a:solidFill>
                <a:latin typeface="+mj-lt"/>
              </a:rPr>
              <a:t>Object-oriented databases persist objects directly as they exist in code </a:t>
            </a:r>
            <a:r>
              <a:rPr lang="en-US" sz="16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eliminating the translation layer between application and storage.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992" y="1084036"/>
            <a:ext cx="5387443" cy="871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1738" indent="-121738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CAD/CAM systems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Scientific simulations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Telecom network management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Multimedia storage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Complex OOP object hierarchies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4408" y="1084036"/>
            <a:ext cx="5387443" cy="69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1738" indent="-121738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Eliminates object-relational impedance mismatch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Stores complex objects natively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Inheritance and polymorphism supported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Natural fit for OOP languages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992" y="3863779"/>
            <a:ext cx="5387443" cy="69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1738" indent="-121738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Limited adoption and small ecosystem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Poor SQL interoperability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Weak query language standardization</a:t>
            </a:r>
          </a:p>
          <a:p>
            <a:pPr marL="121738" indent="-121738" algn="l">
              <a:lnSpc>
                <a:spcPts val="1124"/>
              </a:lnSpc>
              <a:spcBef>
                <a:spcPts val="335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Not suited for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00397"/>
            <a:ext cx="5657850" cy="2638127"/>
          </a:xfrm>
          <a:prstGeom prst="roundRect">
            <a:avLst>
              <a:gd name="adj" fmla="val 2888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0525" y="809922"/>
            <a:ext cx="5638800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53150" y="800397"/>
            <a:ext cx="5657850" cy="2638127"/>
          </a:xfrm>
          <a:prstGeom prst="roundRect">
            <a:avLst>
              <a:gd name="adj" fmla="val 2888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62675" y="809922"/>
            <a:ext cx="5638800" cy="38100"/>
          </a:xfrm>
          <a:prstGeom prst="rect">
            <a:avLst/>
          </a:prstGeom>
          <a:solidFill>
            <a:srgbClr val="7A9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3552825"/>
            <a:ext cx="5657850" cy="2638127"/>
          </a:xfrm>
          <a:prstGeom prst="roundRect">
            <a:avLst>
              <a:gd name="adj" fmla="val 2888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0525" y="3562350"/>
            <a:ext cx="5638800" cy="38100"/>
          </a:xfrm>
          <a:prstGeom prst="rect">
            <a:avLst/>
          </a:prstGeom>
          <a:solidFill>
            <a:srgbClr val="C1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53150" y="3552825"/>
            <a:ext cx="5657850" cy="2638127"/>
          </a:xfrm>
          <a:prstGeom prst="roundRect">
            <a:avLst>
              <a:gd name="adj" fmla="val 2888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62675" y="3562350"/>
            <a:ext cx="5638800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5867" y="3971825"/>
            <a:ext cx="53279" cy="532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5867" y="4195359"/>
            <a:ext cx="53279" cy="5327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5867" y="4418894"/>
            <a:ext cx="53279" cy="5327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5867" y="4642428"/>
            <a:ext cx="53279" cy="5327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012" y="6488248"/>
            <a:ext cx="277025" cy="2154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0990" y="276218"/>
            <a:ext cx="4829014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Hierarchical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50083" y="352416"/>
            <a:ext cx="790275" cy="323163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09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7568" y="877785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5867" y="924974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61" y="3677333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867" y="3714657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+mj-lt"/>
              </a:rPr>
              <a:t>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19" y="3933726"/>
            <a:ext cx="70532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IBM 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19" y="4157260"/>
            <a:ext cx="149130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Windows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19" y="4380795"/>
            <a:ext cx="124912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XML databases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19" y="4604329"/>
            <a:ext cx="137088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LDAP directories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715" y="6457490"/>
            <a:ext cx="1085681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1" dirty="0">
                <a:solidFill>
                  <a:srgbClr val="E8DFC8"/>
                </a:solidFill>
                <a:latin typeface="+mj-lt"/>
              </a:rPr>
              <a:t>Hierarchical databases organize data as a tree </a:t>
            </a:r>
            <a:r>
              <a:rPr lang="en-US" sz="16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highly efficient for known traversal paths but inflexible for varied modern queries.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861" y="1171843"/>
            <a:ext cx="5371965" cy="1195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Legacy mainframe systems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File system organization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XML document storage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Org chart data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Bill of materials in manufacturing</a:t>
            </a:r>
            <a:endParaRPr lang="en-US" sz="1600" b="0" i="0" dirty="0">
              <a:solidFill>
                <a:srgbClr val="C8BFA8"/>
              </a:solidFill>
              <a:latin typeface="+mj-lt"/>
            </a:endParaRP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Hospital Information Systems (HIS) </a:t>
            </a:r>
            <a:endParaRPr sz="1600" b="0" i="0" dirty="0">
              <a:solidFill>
                <a:srgbClr val="C8BFA8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95867" y="1171843"/>
            <a:ext cx="5371965" cy="7783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Very fast for hierarchical navigational queries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Simple parent-child model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Efficient for predefined access patterns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Proven mainframe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861" y="3924201"/>
            <a:ext cx="5371965" cy="7783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Rigid tree — poor fit for many-to-many relationships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Expensive schema changes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Limited query flexibility</a:t>
            </a:r>
          </a:p>
          <a:p>
            <a:pPr marL="119952" indent="-119952" algn="l">
              <a:lnSpc>
                <a:spcPts val="1218"/>
              </a:lnSpc>
              <a:spcBef>
                <a:spcPts val="374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Largely outdated for new development</a:t>
            </a:r>
          </a:p>
        </p:txBody>
      </p:sp>
      <p:pic>
        <p:nvPicPr>
          <p:cNvPr id="30" name="Picture 12" descr="image.png">
            <a:extLst>
              <a:ext uri="{FF2B5EF4-FFF2-40B4-BE49-F238E27FC236}">
                <a16:creationId xmlns:a16="http://schemas.microsoft.com/office/drawing/2014/main" id="{60B1469E-B886-BA09-4BAA-9E1895874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0984" y="4869474"/>
            <a:ext cx="53279" cy="5327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B3F18E5-8FFF-1CBD-B32D-844DE0B24C9E}"/>
              </a:ext>
            </a:extLst>
          </p:cNvPr>
          <p:cNvSpPr txBox="1"/>
          <p:nvPr/>
        </p:nvSpPr>
        <p:spPr>
          <a:xfrm>
            <a:off x="6390936" y="4831375"/>
            <a:ext cx="125181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 b="0" i="0" dirty="0">
                <a:solidFill>
                  <a:srgbClr val="C8BFA8"/>
                </a:solidFill>
                <a:latin typeface="+mj-lt"/>
              </a:rPr>
              <a:t>Epic Chronicles</a:t>
            </a:r>
            <a:endParaRPr sz="1600" b="0" i="0" dirty="0">
              <a:solidFill>
                <a:srgbClr val="C8BFA8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56357"/>
            <a:ext cx="5657850" cy="2598390"/>
          </a:xfrm>
          <a:prstGeom prst="roundRect">
            <a:avLst>
              <a:gd name="adj" fmla="val 293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242" y="976288"/>
            <a:ext cx="93238" cy="10655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2" y="1304892"/>
            <a:ext cx="53279" cy="532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2" y="1525598"/>
            <a:ext cx="53279" cy="532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2" y="1746305"/>
            <a:ext cx="53279" cy="532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2" y="1967012"/>
            <a:ext cx="53279" cy="532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53150" y="856357"/>
            <a:ext cx="5657850" cy="2598390"/>
          </a:xfrm>
          <a:prstGeom prst="roundRect">
            <a:avLst>
              <a:gd name="adj" fmla="val 293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9588" y="976288"/>
            <a:ext cx="106558" cy="10655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9588" y="1304892"/>
            <a:ext cx="53279" cy="532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9588" y="1525598"/>
            <a:ext cx="53279" cy="5327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9588" y="1746305"/>
            <a:ext cx="53279" cy="5327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81000" y="3569047"/>
            <a:ext cx="5657850" cy="2598390"/>
          </a:xfrm>
          <a:prstGeom prst="roundRect">
            <a:avLst>
              <a:gd name="adj" fmla="val 293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582" y="3688910"/>
            <a:ext cx="106558" cy="10655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2" y="4017514"/>
            <a:ext cx="53279" cy="5327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2" y="4238221"/>
            <a:ext cx="53279" cy="5327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2" y="4458927"/>
            <a:ext cx="53279" cy="5327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2" y="4679634"/>
            <a:ext cx="53279" cy="5327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53150" y="3569047"/>
            <a:ext cx="5657850" cy="2598390"/>
          </a:xfrm>
          <a:prstGeom prst="roundRect">
            <a:avLst>
              <a:gd name="adj" fmla="val 293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5507" y="3694834"/>
            <a:ext cx="94718" cy="9470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9588" y="4017514"/>
            <a:ext cx="53279" cy="5327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9588" y="4238221"/>
            <a:ext cx="53279" cy="5327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9588" y="4458927"/>
            <a:ext cx="53279" cy="5327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9588" y="4679634"/>
            <a:ext cx="53279" cy="53279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500" y="6461657"/>
            <a:ext cx="85843" cy="1248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0990" y="257168"/>
            <a:ext cx="4626010" cy="738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Network</a:t>
            </a:r>
            <a:r>
              <a:rPr sz="4800" b="1" i="0" dirty="0">
                <a:solidFill>
                  <a:srgbClr val="F0EAD6"/>
                </a:solidFill>
                <a:latin typeface="+mj-lt"/>
              </a:rPr>
              <a:t> Databases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5383" y="352416"/>
            <a:ext cx="790275" cy="303927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10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0338" y="962893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320" y="1250422"/>
            <a:ext cx="223535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Legacy telecom systems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320" y="1471129"/>
            <a:ext cx="251658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Airline reservation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320" y="1691835"/>
            <a:ext cx="312297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Manufacturing resource 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320" y="1912542"/>
            <a:ext cx="215001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Early ERP predecessors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2344" y="962893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1326" y="1250422"/>
            <a:ext cx="430662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Supports many-to-many relationships natively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1326" y="1471129"/>
            <a:ext cx="459972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Faster navigation than relational for known paths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1326" y="1691835"/>
            <a:ext cx="318907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Flexible record linking via pointers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338" y="3675516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320" y="3963044"/>
            <a:ext cx="286238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Highly complex schema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320" y="4183751"/>
            <a:ext cx="480881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Navigation requires knowing data structure upfront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320" y="4404458"/>
            <a:ext cx="30426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Nearly obsolete for new systems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320" y="4625164"/>
            <a:ext cx="300466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Minimal tooling and community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2344" y="3675516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1326" y="3963044"/>
            <a:ext cx="50334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IDMS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1326" y="4183751"/>
            <a:ext cx="250857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IDS (Integrated Data Store)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1326" y="4404458"/>
            <a:ext cx="118788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TurboIMAGE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21326" y="4625164"/>
            <a:ext cx="24056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Raima Database Manager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960" y="6332924"/>
            <a:ext cx="11342913" cy="361634"/>
          </a:xfrm>
          <a:prstGeom prst="rect">
            <a:avLst/>
          </a:prstGeom>
          <a:noFill/>
        </p:spPr>
        <p:txBody>
          <a:bodyPr wrap="none" lIns="0" tIns="114297" rIns="0" bIns="0">
            <a:spAutoFit/>
          </a:bodyPr>
          <a:lstStyle/>
          <a:p>
            <a:pPr algn="l"/>
            <a:r>
              <a:rPr sz="1600" b="0" i="1" dirty="0">
                <a:solidFill>
                  <a:srgbClr val="E8DFC8"/>
                </a:solidFill>
                <a:latin typeface="+mj-lt"/>
              </a:rPr>
              <a:t>Network databases extend the hierarchical model with many-to-many links </a:t>
            </a:r>
            <a:r>
              <a:rPr lang="en-US" sz="16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a powerful but complex precursor to the relational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26740"/>
            <a:ext cx="5648325" cy="2570857"/>
          </a:xfrm>
          <a:prstGeom prst="roundRect">
            <a:avLst>
              <a:gd name="adj" fmla="val 296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633" y="948686"/>
            <a:ext cx="108344" cy="10833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1245809"/>
            <a:ext cx="53279" cy="532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1463985"/>
            <a:ext cx="53279" cy="532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1682162"/>
            <a:ext cx="53279" cy="532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61" y="1900338"/>
            <a:ext cx="53279" cy="532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62675" y="826740"/>
            <a:ext cx="5648325" cy="2570857"/>
          </a:xfrm>
          <a:prstGeom prst="roundRect">
            <a:avLst>
              <a:gd name="adj" fmla="val 296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5392" y="941909"/>
            <a:ext cx="121887" cy="12188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392" y="1245809"/>
            <a:ext cx="53279" cy="532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392" y="1463985"/>
            <a:ext cx="53279" cy="5327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392" y="1682162"/>
            <a:ext cx="53279" cy="5327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392" y="1900338"/>
            <a:ext cx="53279" cy="5327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1000" y="3530947"/>
            <a:ext cx="5648325" cy="2570857"/>
          </a:xfrm>
          <a:prstGeom prst="roundRect">
            <a:avLst>
              <a:gd name="adj" fmla="val 296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861" y="3646049"/>
            <a:ext cx="121887" cy="121887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861" y="3949948"/>
            <a:ext cx="53279" cy="5327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861" y="4168125"/>
            <a:ext cx="53279" cy="5327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861" y="4386301"/>
            <a:ext cx="53279" cy="5327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62675" y="3530947"/>
            <a:ext cx="5648325" cy="2570857"/>
          </a:xfrm>
          <a:prstGeom prst="roundRect">
            <a:avLst>
              <a:gd name="adj" fmla="val 296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3010" y="3646049"/>
            <a:ext cx="106651" cy="12188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81000" y="6254204"/>
            <a:ext cx="11430000" cy="9525"/>
          </a:xfrm>
          <a:prstGeom prst="rect">
            <a:avLst/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0990" y="266693"/>
            <a:ext cx="4815293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Multimod</a:t>
            </a:r>
            <a:r>
              <a:rPr lang="en-US" sz="4000" b="1" i="0" dirty="0">
                <a:solidFill>
                  <a:srgbClr val="F0EAD6"/>
                </a:solidFill>
                <a:latin typeface="+mj-lt"/>
              </a:rPr>
              <a:t>a</a:t>
            </a:r>
            <a:r>
              <a:rPr sz="4000" b="1" i="0" dirty="0">
                <a:solidFill>
                  <a:srgbClr val="F0EAD6"/>
                </a:solidFill>
                <a:latin typeface="+mj-lt"/>
              </a:rPr>
              <a:t>l Databases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03510" y="352416"/>
            <a:ext cx="790275" cy="303927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11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1947" y="941016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14" y="1207710"/>
            <a:ext cx="362644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Applications requiring multiple data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14" y="1425886"/>
            <a:ext cx="228940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Microservices architectures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14" y="1644063"/>
            <a:ext cx="186647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Unified data platforms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14" y="1862239"/>
            <a:ext cx="146161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Hybrid workloads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3477" y="941016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5344" y="1207710"/>
            <a:ext cx="283770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Reduces infrastructure complexity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5344" y="1425886"/>
            <a:ext cx="374288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Supports multiple data models in one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5344" y="1644063"/>
            <a:ext cx="243258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Lowers operational overhead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5344" y="1862239"/>
            <a:ext cx="187121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Flexible data modeling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947" y="3645156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814" y="3911849"/>
            <a:ext cx="281211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May not excel at any single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814" y="4130025"/>
            <a:ext cx="357110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Complex query optimization across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14" y="4348202"/>
            <a:ext cx="382200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Vendor lock-in to proprietary query languages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3477" y="3645156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4917" y="3911849"/>
            <a:ext cx="920823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ArangoDB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4917" y="4162136"/>
            <a:ext cx="1473474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Azure Cosmos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2552" y="4423476"/>
            <a:ext cx="865552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 err="1">
                <a:solidFill>
                  <a:srgbClr val="C9A84C"/>
                </a:solidFill>
                <a:latin typeface="+mj-lt"/>
              </a:rPr>
              <a:t>OrientDB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42552" y="4685573"/>
            <a:ext cx="833427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 err="1">
                <a:solidFill>
                  <a:srgbClr val="C9A84C"/>
                </a:solidFill>
                <a:latin typeface="+mj-lt"/>
              </a:rPr>
              <a:t>FaunaDB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41000" y="4929900"/>
            <a:ext cx="977826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Couchbase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564" y="6415968"/>
            <a:ext cx="10663109" cy="246221"/>
          </a:xfrm>
          <a:prstGeom prst="rect">
            <a:avLst/>
          </a:prstGeom>
          <a:noFill/>
        </p:spPr>
        <p:txBody>
          <a:bodyPr wrap="none" lIns="114297" tIns="0" rIns="0" bIns="0">
            <a:spAutoFit/>
          </a:bodyPr>
          <a:lstStyle/>
          <a:p>
            <a:pPr algn="l"/>
            <a:r>
              <a:rPr sz="1600" b="0" i="1" dirty="0" err="1">
                <a:solidFill>
                  <a:srgbClr val="E8DFC8"/>
                </a:solidFill>
                <a:latin typeface="+mj-lt"/>
              </a:rPr>
              <a:t>Multimodel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databases unify multiple paradigms under one platform </a:t>
            </a:r>
            <a:r>
              <a:rPr lang="en-US" sz="16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reducing operational complexity for diverse data needs.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03F34D-7162-B13A-4FAD-54EABC74FEEA}"/>
              </a:ext>
            </a:extLst>
          </p:cNvPr>
          <p:cNvSpPr txBox="1"/>
          <p:nvPr/>
        </p:nvSpPr>
        <p:spPr>
          <a:xfrm>
            <a:off x="6332031" y="5271525"/>
            <a:ext cx="974556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lang="en-US" sz="1400" b="1" i="0" dirty="0">
                <a:solidFill>
                  <a:srgbClr val="C9A84C"/>
                </a:solidFill>
                <a:latin typeface="+mj-lt"/>
              </a:rPr>
              <a:t>SQL Server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670" y="857845"/>
            <a:ext cx="5677048" cy="2671167"/>
          </a:xfrm>
          <a:prstGeom prst="roundRect">
            <a:avLst>
              <a:gd name="adj" fmla="val 285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8545" y="1200745"/>
            <a:ext cx="5391298" cy="9525"/>
          </a:xfrm>
          <a:prstGeom prst="rect">
            <a:avLst/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532" y="1334061"/>
            <a:ext cx="63994" cy="6399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532" y="1547178"/>
            <a:ext cx="63994" cy="6399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532" y="1760295"/>
            <a:ext cx="63994" cy="6399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532" y="1973411"/>
            <a:ext cx="63994" cy="6399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532" y="2186528"/>
            <a:ext cx="63994" cy="6399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532" y="2399644"/>
            <a:ext cx="63994" cy="6399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49280" y="857845"/>
            <a:ext cx="5677048" cy="2671167"/>
          </a:xfrm>
          <a:prstGeom prst="roundRect">
            <a:avLst>
              <a:gd name="adj" fmla="val 285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2155" y="1200745"/>
            <a:ext cx="5391298" cy="9525"/>
          </a:xfrm>
          <a:prstGeom prst="rect">
            <a:avLst/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1998" y="1334061"/>
            <a:ext cx="63994" cy="6399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1998" y="1547178"/>
            <a:ext cx="63994" cy="6399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1998" y="1760295"/>
            <a:ext cx="63994" cy="6399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1998" y="1973411"/>
            <a:ext cx="63994" cy="6399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5670" y="3635573"/>
            <a:ext cx="5677048" cy="2671167"/>
          </a:xfrm>
          <a:prstGeom prst="roundRect">
            <a:avLst>
              <a:gd name="adj" fmla="val 285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8545" y="3978473"/>
            <a:ext cx="5391298" cy="9525"/>
          </a:xfrm>
          <a:prstGeom prst="rect">
            <a:avLst/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532" y="4111720"/>
            <a:ext cx="63994" cy="63994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532" y="4324837"/>
            <a:ext cx="63994" cy="63994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532" y="4537953"/>
            <a:ext cx="63994" cy="6399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49280" y="3635573"/>
            <a:ext cx="5677048" cy="2671167"/>
          </a:xfrm>
          <a:prstGeom prst="roundRect">
            <a:avLst>
              <a:gd name="adj" fmla="val 2852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92155" y="3978473"/>
            <a:ext cx="5391298" cy="9525"/>
          </a:xfrm>
          <a:prstGeom prst="rect">
            <a:avLst/>
          </a:prstGeom>
          <a:solidFill>
            <a:srgbClr val="2E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4111720"/>
            <a:ext cx="63994" cy="63994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4324837"/>
            <a:ext cx="63994" cy="63994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4537953"/>
            <a:ext cx="63994" cy="63994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4751070"/>
            <a:ext cx="63994" cy="63994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4964186"/>
            <a:ext cx="63994" cy="63994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5177303"/>
            <a:ext cx="63994" cy="6399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5661" y="266693"/>
            <a:ext cx="4708533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In-Memory Databases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3117" y="371465"/>
            <a:ext cx="790275" cy="323163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12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5186" y="943546"/>
            <a:ext cx="1287076" cy="330856"/>
          </a:xfrm>
          <a:prstGeom prst="rect">
            <a:avLst/>
          </a:prstGeom>
          <a:noFill/>
        </p:spPr>
        <p:txBody>
          <a:bodyPr wrap="none" lIns="133346" tIns="57148" rIns="133346" bIns="5714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200" y="1295962"/>
            <a:ext cx="165506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Real-time bidding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200" y="1509079"/>
            <a:ext cx="146001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Session caching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200" y="1722195"/>
            <a:ext cx="128406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Leaderboards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200" y="1935312"/>
            <a:ext cx="123713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Gaming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200" y="2148429"/>
            <a:ext cx="154856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Financial trading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200" y="2361545"/>
            <a:ext cx="235404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Sub-millisecond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8651" y="943546"/>
            <a:ext cx="671522" cy="330856"/>
          </a:xfrm>
          <a:prstGeom prst="rect">
            <a:avLst/>
          </a:prstGeom>
          <a:noFill/>
        </p:spPr>
        <p:txBody>
          <a:bodyPr wrap="none" lIns="133346" tIns="57148" rIns="133346" bIns="57148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2665" y="1295962"/>
            <a:ext cx="299626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Microsecond read/write latency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2665" y="1509079"/>
            <a:ext cx="173945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Eliminates disk I/O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2665" y="1722195"/>
            <a:ext cx="428348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High throughput for read-intensive workloads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2665" y="1935312"/>
            <a:ext cx="232647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Predictable 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5186" y="3721205"/>
            <a:ext cx="687937" cy="330856"/>
          </a:xfrm>
          <a:prstGeom prst="rect">
            <a:avLst/>
          </a:prstGeom>
          <a:noFill/>
        </p:spPr>
        <p:txBody>
          <a:bodyPr wrap="none" lIns="133346" tIns="57148" rIns="133346" bIns="57148">
            <a:spAutoFit/>
          </a:bodyPr>
          <a:lstStyle/>
          <a:p>
            <a:pPr algn="l"/>
            <a:r>
              <a:rPr sz="1400" b="1" i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200" y="4073621"/>
            <a:ext cx="397916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Data loss risk on crash without persistence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200" y="4286738"/>
            <a:ext cx="356687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High cost — RAM is expensive at scale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200" y="4499854"/>
            <a:ext cx="382130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Dataset size limited by available 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8651" y="3721205"/>
            <a:ext cx="1065861" cy="330856"/>
          </a:xfrm>
          <a:prstGeom prst="rect">
            <a:avLst/>
          </a:prstGeom>
          <a:noFill/>
        </p:spPr>
        <p:txBody>
          <a:bodyPr wrap="none" lIns="133346" tIns="57148" rIns="133346" bIns="57148">
            <a:spAutoFit/>
          </a:bodyPr>
          <a:lstStyle/>
          <a:p>
            <a:pPr algn="l"/>
            <a:r>
              <a:rPr sz="1400" b="1" i="0">
                <a:solidFill>
                  <a:srgbClr val="D4A843"/>
                </a:solidFill>
                <a:latin typeface="+mj-lt"/>
              </a:rPr>
              <a:t>EXAMPLES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2665" y="4073621"/>
            <a:ext cx="50090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Redis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22665" y="4286738"/>
            <a:ext cx="116025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Memcached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22665" y="4499854"/>
            <a:ext cx="64113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VoltDB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2665" y="4712971"/>
            <a:ext cx="96815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SAP HANA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2665" y="4926087"/>
            <a:ext cx="92339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Aerospike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22665" y="5139204"/>
            <a:ext cx="128471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Apache Ignite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4235" y="6462550"/>
            <a:ext cx="11375227" cy="246221"/>
          </a:xfrm>
          <a:prstGeom prst="rect">
            <a:avLst/>
          </a:prstGeom>
          <a:noFill/>
        </p:spPr>
        <p:txBody>
          <a:bodyPr wrap="none" lIns="114297" tIns="0" rIns="0" bIns="0">
            <a:spAutoFit/>
          </a:bodyPr>
          <a:lstStyle/>
          <a:p>
            <a:pPr algn="l"/>
            <a:r>
              <a:rPr sz="1600" b="0" i="1" dirty="0">
                <a:solidFill>
                  <a:srgbClr val="E8DFC8"/>
                </a:solidFill>
                <a:latin typeface="+mj-lt"/>
              </a:rPr>
              <a:t>In-memory databases keep all data in RAM </a:t>
            </a:r>
            <a:r>
              <a:rPr lang="en-US" sz="16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trading storage cost for the ultimate in speed, enabling microsecond-latency applications.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9100" y="921246"/>
            <a:ext cx="5610225" cy="2503140"/>
          </a:xfrm>
          <a:prstGeom prst="roundRect">
            <a:avLst>
              <a:gd name="adj" fmla="val 3044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1454609"/>
            <a:ext cx="53279" cy="532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1683501"/>
            <a:ext cx="53279" cy="532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1912393"/>
            <a:ext cx="53279" cy="532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2141285"/>
            <a:ext cx="53279" cy="532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2370177"/>
            <a:ext cx="53279" cy="5327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2599069"/>
            <a:ext cx="53279" cy="5327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10" y="2827961"/>
            <a:ext cx="53279" cy="532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62675" y="921246"/>
            <a:ext cx="5610225" cy="2503140"/>
          </a:xfrm>
          <a:prstGeom prst="roundRect">
            <a:avLst>
              <a:gd name="adj" fmla="val 3044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441" y="1454609"/>
            <a:ext cx="53279" cy="5327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441" y="1683501"/>
            <a:ext cx="53279" cy="5327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441" y="1912393"/>
            <a:ext cx="53279" cy="5327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441" y="2141285"/>
            <a:ext cx="53279" cy="5327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9100" y="3557736"/>
            <a:ext cx="5610225" cy="2503140"/>
          </a:xfrm>
          <a:prstGeom prst="roundRect">
            <a:avLst>
              <a:gd name="adj" fmla="val 3044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0" y="4091033"/>
            <a:ext cx="53279" cy="5327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0" y="4319925"/>
            <a:ext cx="53279" cy="5327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0" y="4548817"/>
            <a:ext cx="53279" cy="5327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10" y="4777709"/>
            <a:ext cx="53279" cy="5327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62675" y="3557736"/>
            <a:ext cx="5610225" cy="2503140"/>
          </a:xfrm>
          <a:prstGeom prst="roundRect">
            <a:avLst>
              <a:gd name="adj" fmla="val 3044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9100" y="6213127"/>
            <a:ext cx="11353800" cy="378172"/>
          </a:xfrm>
          <a:prstGeom prst="roundRect">
            <a:avLst>
              <a:gd name="adj" fmla="val 15112"/>
            </a:avLst>
          </a:prstGeom>
          <a:solidFill>
            <a:srgbClr val="13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9100" y="6213127"/>
            <a:ext cx="38100" cy="3781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9089" y="295267"/>
            <a:ext cx="5058564" cy="738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Embedded</a:t>
            </a:r>
            <a:r>
              <a:rPr sz="4800" b="1" i="0" dirty="0">
                <a:solidFill>
                  <a:srgbClr val="F0EAD6"/>
                </a:solidFill>
                <a:latin typeface="+mj-lt"/>
              </a:rPr>
              <a:t> Databases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4864" y="400039"/>
            <a:ext cx="772639" cy="311620"/>
          </a:xfrm>
          <a:prstGeom prst="rect">
            <a:avLst/>
          </a:prstGeom>
          <a:solidFill>
            <a:srgbClr val="C9A84C"/>
          </a:solidFill>
        </p:spPr>
        <p:txBody>
          <a:bodyPr wrap="none" lIns="123821" tIns="47623" rIns="123821" bIns="47623">
            <a:spAutoFit/>
          </a:bodyPr>
          <a:lstStyle/>
          <a:p>
            <a:pPr algn="l"/>
            <a:r>
              <a:rPr sz="1400" b="1" i="0" dirty="0">
                <a:solidFill>
                  <a:srgbClr val="1A1814"/>
                </a:solidFill>
                <a:latin typeface="+mj-lt"/>
              </a:rPr>
              <a:t>13 / </a:t>
            </a:r>
            <a:r>
              <a:rPr lang="en-US" sz="1400" b="1" i="0" dirty="0">
                <a:solidFill>
                  <a:srgbClr val="1A1814"/>
                </a:solidFill>
                <a:latin typeface="+mj-lt"/>
              </a:rPr>
              <a:t>18</a:t>
            </a:r>
            <a:endParaRPr sz="1400" b="1" i="0" dirty="0">
              <a:solidFill>
                <a:srgbClr val="1A1814"/>
              </a:solidFill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8614" y="987896"/>
            <a:ext cx="1214812" cy="388563"/>
          </a:xfrm>
          <a:prstGeom prst="rect">
            <a:avLst/>
          </a:prstGeom>
          <a:noFill/>
        </p:spPr>
        <p:txBody>
          <a:bodyPr wrap="none" lIns="152396" tIns="95247" rIns="152396" bIns="7619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7" y="1416510"/>
            <a:ext cx="115781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Mobile apps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7" y="1645402"/>
            <a:ext cx="164692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 dirty="0">
                <a:solidFill>
                  <a:srgbClr val="C8BFA8"/>
                </a:solidFill>
                <a:latin typeface="+mj-lt"/>
              </a:rPr>
              <a:t>Desktop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7" y="1874294"/>
            <a:ext cx="104079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IoT devices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7" y="2103186"/>
            <a:ext cx="263290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 dirty="0">
                <a:solidFill>
                  <a:srgbClr val="C8BFA8"/>
                </a:solidFill>
                <a:latin typeface="+mj-lt"/>
              </a:rPr>
              <a:t>Browser-based local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7" y="2332078"/>
            <a:ext cx="15124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Edge computing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7" y="2560970"/>
            <a:ext cx="189654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 dirty="0">
                <a:solidFill>
                  <a:srgbClr val="C8BFA8"/>
                </a:solidFill>
                <a:latin typeface="+mj-lt"/>
              </a:rPr>
              <a:t>Automotive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7" y="2789862"/>
            <a:ext cx="145745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Game save 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045" y="987896"/>
            <a:ext cx="634205" cy="388563"/>
          </a:xfrm>
          <a:prstGeom prst="rect">
            <a:avLst/>
          </a:prstGeom>
          <a:noFill/>
        </p:spPr>
        <p:txBody>
          <a:bodyPr wrap="none" lIns="152396" tIns="95247" rIns="152396" bIns="76198">
            <a:spAutoFit/>
          </a:bodyPr>
          <a:lstStyle/>
          <a:p>
            <a:pPr algn="l"/>
            <a:r>
              <a:rPr sz="1400" b="1" i="0">
                <a:solidFill>
                  <a:srgbClr val="7FC887"/>
                </a:solidFill>
                <a:latin typeface="+mj-lt"/>
              </a:rPr>
              <a:t>Pros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3919" y="1416510"/>
            <a:ext cx="253877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No separate server process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3919" y="1645402"/>
            <a:ext cx="313265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Zero network latency (in-process)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3919" y="1874294"/>
            <a:ext cx="392684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Simple deployment — single file or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3919" y="2103186"/>
            <a:ext cx="27446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Excellent for offline-first apps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8614" y="3624320"/>
            <a:ext cx="666841" cy="388563"/>
          </a:xfrm>
          <a:prstGeom prst="rect">
            <a:avLst/>
          </a:prstGeom>
          <a:noFill/>
        </p:spPr>
        <p:txBody>
          <a:bodyPr wrap="none" lIns="152396" tIns="95247" rIns="152396" bIns="76198">
            <a:spAutoFit/>
          </a:bodyPr>
          <a:lstStyle/>
          <a:p>
            <a:pPr algn="l"/>
            <a:r>
              <a:rPr sz="1400" b="1" i="0">
                <a:solidFill>
                  <a:srgbClr val="E07070"/>
                </a:solidFill>
                <a:latin typeface="+mj-lt"/>
              </a:rPr>
              <a:t>Cons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7" y="4052934"/>
            <a:ext cx="432419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Not designed for concurrent multi-user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7" y="4281826"/>
            <a:ext cx="167392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 dirty="0">
                <a:solidFill>
                  <a:srgbClr val="C8BFA8"/>
                </a:solidFill>
                <a:latin typeface="+mj-lt"/>
              </a:rPr>
              <a:t>Limited scalability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7" y="4510718"/>
            <a:ext cx="388612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>
                <a:solidFill>
                  <a:srgbClr val="C8BFA8"/>
                </a:solidFill>
                <a:latin typeface="+mj-lt"/>
              </a:rPr>
              <a:t>Smaller feature set than server databases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487" y="4739610"/>
            <a:ext cx="238911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0" dirty="0">
                <a:solidFill>
                  <a:srgbClr val="C8BFA8"/>
                </a:solidFill>
                <a:latin typeface="+mj-lt"/>
              </a:rPr>
              <a:t>Sync complexity to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045" y="3624320"/>
            <a:ext cx="1011872" cy="388563"/>
          </a:xfrm>
          <a:prstGeom prst="rect">
            <a:avLst/>
          </a:prstGeom>
          <a:noFill/>
        </p:spPr>
        <p:txBody>
          <a:bodyPr wrap="none" lIns="152396" tIns="95247" rIns="152396" bIns="7619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Examples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3966" y="4052934"/>
            <a:ext cx="738081" cy="303927"/>
          </a:xfrm>
          <a:prstGeom prst="rect">
            <a:avLst/>
          </a:prstGeom>
          <a:solidFill>
            <a:srgbClr val="302A1A"/>
          </a:solidFill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>
                <a:solidFill>
                  <a:srgbClr val="F0EAD6"/>
                </a:solidFill>
                <a:latin typeface="+mj-lt"/>
              </a:rPr>
              <a:t>SQLite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8736" y="4442160"/>
            <a:ext cx="873888" cy="303927"/>
          </a:xfrm>
          <a:prstGeom prst="rect">
            <a:avLst/>
          </a:prstGeom>
          <a:solidFill>
            <a:srgbClr val="302A1A"/>
          </a:solidFill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 err="1">
                <a:solidFill>
                  <a:srgbClr val="F0EAD6"/>
                </a:solidFill>
                <a:latin typeface="+mj-lt"/>
              </a:rPr>
              <a:t>LevelDB</a:t>
            </a:r>
            <a:endParaRPr sz="1600" b="1" i="0" dirty="0">
              <a:solidFill>
                <a:srgbClr val="F0EAD6"/>
              </a:solidFill>
              <a:latin typeface="+mj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08736" y="4777709"/>
            <a:ext cx="924414" cy="303927"/>
          </a:xfrm>
          <a:prstGeom prst="rect">
            <a:avLst/>
          </a:prstGeom>
          <a:solidFill>
            <a:srgbClr val="302A1A"/>
          </a:solidFill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 err="1">
                <a:solidFill>
                  <a:srgbClr val="F0EAD6"/>
                </a:solidFill>
                <a:latin typeface="+mj-lt"/>
              </a:rPr>
              <a:t>RocksDB</a:t>
            </a:r>
            <a:endParaRPr sz="1600" b="1" i="0" dirty="0">
              <a:solidFill>
                <a:srgbClr val="F0EAD6"/>
              </a:solidFill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08736" y="5137563"/>
            <a:ext cx="1218726" cy="303927"/>
          </a:xfrm>
          <a:prstGeom prst="rect">
            <a:avLst/>
          </a:prstGeom>
          <a:solidFill>
            <a:srgbClr val="302A1A"/>
          </a:solidFill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>
                <a:solidFill>
                  <a:srgbClr val="F0EAD6"/>
                </a:solidFill>
                <a:latin typeface="+mj-lt"/>
              </a:rPr>
              <a:t>Berkeley 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8736" y="5496882"/>
            <a:ext cx="724744" cy="303927"/>
          </a:xfrm>
          <a:prstGeom prst="rect">
            <a:avLst/>
          </a:prstGeom>
          <a:solidFill>
            <a:srgbClr val="302A1A"/>
          </a:solidFill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>
                <a:solidFill>
                  <a:srgbClr val="F0EAD6"/>
                </a:solidFill>
                <a:latin typeface="+mj-lt"/>
              </a:rPr>
              <a:t>Realm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5377" y="4012883"/>
            <a:ext cx="862410" cy="303927"/>
          </a:xfrm>
          <a:prstGeom prst="rect">
            <a:avLst/>
          </a:prstGeom>
          <a:solidFill>
            <a:srgbClr val="302A1A"/>
          </a:solidFill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 err="1">
                <a:solidFill>
                  <a:srgbClr val="F0EAD6"/>
                </a:solidFill>
                <a:latin typeface="+mj-lt"/>
              </a:rPr>
              <a:t>DuckDB</a:t>
            </a:r>
            <a:endParaRPr sz="1600" b="1" i="0" dirty="0">
              <a:solidFill>
                <a:srgbClr val="F0EAD6"/>
              </a:solidFill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8159" y="6317744"/>
            <a:ext cx="1119017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1" dirty="0">
                <a:solidFill>
                  <a:srgbClr val="E8DFC8"/>
                </a:solidFill>
                <a:latin typeface="+mj-lt"/>
              </a:rPr>
              <a:t>Embedded databases run within the application process itself </a:t>
            </a:r>
            <a:r>
              <a:rPr lang="en-US" sz="16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600" b="0" i="1" dirty="0">
                <a:solidFill>
                  <a:srgbClr val="E8DFC8"/>
                </a:solidFill>
                <a:latin typeface="+mj-lt"/>
              </a:rPr>
              <a:t> no server, no network, just fast local data access for devices and apps.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99FF34-CF8B-6BD4-BBBB-252FE40636F4}"/>
              </a:ext>
            </a:extLst>
          </p:cNvPr>
          <p:cNvSpPr txBox="1"/>
          <p:nvPr/>
        </p:nvSpPr>
        <p:spPr>
          <a:xfrm>
            <a:off x="8130281" y="4362866"/>
            <a:ext cx="744493" cy="303927"/>
          </a:xfrm>
          <a:prstGeom prst="rect">
            <a:avLst/>
          </a:prstGeom>
          <a:solidFill>
            <a:srgbClr val="302A1A"/>
          </a:solidFill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lang="en-US" sz="1600" b="1" i="0" dirty="0" err="1">
                <a:solidFill>
                  <a:srgbClr val="F0EAD6"/>
                </a:solidFill>
                <a:latin typeface="+mj-lt"/>
              </a:rPr>
              <a:t>LiteDB</a:t>
            </a:r>
            <a:endParaRPr sz="1600" b="1" i="0" dirty="0">
              <a:solidFill>
                <a:srgbClr val="F0EAD6"/>
              </a:solidFill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D15032-B58C-68DB-66A6-4BB7C951D243}"/>
              </a:ext>
            </a:extLst>
          </p:cNvPr>
          <p:cNvSpPr txBox="1"/>
          <p:nvPr/>
        </p:nvSpPr>
        <p:spPr>
          <a:xfrm>
            <a:off x="8130279" y="4719102"/>
            <a:ext cx="1218726" cy="303927"/>
          </a:xfrm>
          <a:prstGeom prst="rect">
            <a:avLst/>
          </a:prstGeom>
          <a:solidFill>
            <a:srgbClr val="302A1A"/>
          </a:solidFill>
        </p:spPr>
        <p:txBody>
          <a:bodyPr wrap="square" lIns="95247" tIns="28574" rIns="95247" bIns="28574">
            <a:spAutoFit/>
          </a:bodyPr>
          <a:lstStyle/>
          <a:p>
            <a:pPr algn="l"/>
            <a:r>
              <a:rPr lang="en-US" sz="1600" b="1" i="0" dirty="0">
                <a:solidFill>
                  <a:srgbClr val="F0EAD6"/>
                </a:solidFill>
                <a:latin typeface="+mj-lt"/>
              </a:rPr>
              <a:t>SQL Cipher</a:t>
            </a:r>
            <a:endParaRPr sz="1600" b="1" i="0" dirty="0">
              <a:solidFill>
                <a:srgbClr val="F0EAD6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42813"/>
            <a:ext cx="5657850" cy="2629644"/>
          </a:xfrm>
          <a:prstGeom prst="roundRect">
            <a:avLst>
              <a:gd name="adj" fmla="val 2897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61" y="957089"/>
            <a:ext cx="114291" cy="11431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53150" y="842813"/>
            <a:ext cx="5657850" cy="2629644"/>
          </a:xfrm>
          <a:prstGeom prst="roundRect">
            <a:avLst>
              <a:gd name="adj" fmla="val 2897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5867" y="957089"/>
            <a:ext cx="114297" cy="1142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3586757"/>
            <a:ext cx="5657850" cy="2629644"/>
          </a:xfrm>
          <a:prstGeom prst="roundRect">
            <a:avLst>
              <a:gd name="adj" fmla="val 2897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61" y="3700965"/>
            <a:ext cx="114297" cy="1142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53150" y="3586757"/>
            <a:ext cx="5657850" cy="2629644"/>
          </a:xfrm>
          <a:prstGeom prst="roundRect">
            <a:avLst>
              <a:gd name="adj" fmla="val 2897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2217" y="3707319"/>
            <a:ext cx="101597" cy="1015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96025" y="3948707"/>
            <a:ext cx="865137" cy="209550"/>
          </a:xfrm>
          <a:prstGeom prst="roundRect">
            <a:avLst>
              <a:gd name="adj" fmla="val 18181"/>
            </a:avLst>
          </a:prstGeom>
          <a:solidFill>
            <a:srgbClr val="2E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53015" y="4284371"/>
            <a:ext cx="934193" cy="147597"/>
          </a:xfrm>
          <a:prstGeom prst="roundRect">
            <a:avLst>
              <a:gd name="adj" fmla="val 18181"/>
            </a:avLst>
          </a:prstGeom>
          <a:solidFill>
            <a:srgbClr val="2E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23036" y="4526951"/>
            <a:ext cx="964172" cy="196108"/>
          </a:xfrm>
          <a:prstGeom prst="roundRect">
            <a:avLst>
              <a:gd name="adj" fmla="val 18181"/>
            </a:avLst>
          </a:prstGeom>
          <a:solidFill>
            <a:srgbClr val="2E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21904" y="4882922"/>
            <a:ext cx="1111296" cy="201650"/>
          </a:xfrm>
          <a:prstGeom prst="roundRect">
            <a:avLst>
              <a:gd name="adj" fmla="val 18181"/>
            </a:avLst>
          </a:prstGeom>
          <a:solidFill>
            <a:srgbClr val="2E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53014" y="5292366"/>
            <a:ext cx="934193" cy="213928"/>
          </a:xfrm>
          <a:prstGeom prst="roundRect">
            <a:avLst>
              <a:gd name="adj" fmla="val 18181"/>
            </a:avLst>
          </a:prstGeom>
          <a:solidFill>
            <a:srgbClr val="2E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0990" y="276218"/>
            <a:ext cx="5800114" cy="6771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0EAD6"/>
                </a:solidFill>
                <a:latin typeface="+mj-lt"/>
              </a:rPr>
              <a:t>Search Engine Databases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88479" y="352416"/>
            <a:ext cx="714933" cy="292386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14 / </a:t>
            </a:r>
            <a:r>
              <a:rPr lang="en-US" sz="1400" b="1" i="0" dirty="0">
                <a:solidFill>
                  <a:srgbClr val="C9A84C"/>
                </a:solidFill>
                <a:latin typeface="+mj-lt"/>
              </a:rPr>
              <a:t>18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4357" y="916002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362" y="919765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57" y="3663641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362" y="3700965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D4A843"/>
                </a:solidFill>
                <a:latin typeface="+mj-lt"/>
              </a:rPr>
              <a:t>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392" y="3948802"/>
            <a:ext cx="1130368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Elasticsearch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867" y="4256372"/>
            <a:ext cx="1057976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Apache </a:t>
            </a:r>
            <a:r>
              <a:rPr sz="1400" b="1" i="0" dirty="0" err="1">
                <a:solidFill>
                  <a:srgbClr val="C9A84C"/>
                </a:solidFill>
                <a:latin typeface="+mj-lt"/>
              </a:rPr>
              <a:t>Solr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02217" y="4550367"/>
            <a:ext cx="1073045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OpenSearch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7483" y="4904732"/>
            <a:ext cx="1037779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 err="1">
                <a:solidFill>
                  <a:srgbClr val="C9A84C"/>
                </a:solidFill>
                <a:latin typeface="+mj-lt"/>
              </a:rPr>
              <a:t>Meilisearch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73559" y="5240761"/>
            <a:ext cx="946535" cy="273150"/>
          </a:xfrm>
          <a:prstGeom prst="rect">
            <a:avLst/>
          </a:prstGeom>
          <a:noFill/>
        </p:spPr>
        <p:txBody>
          <a:bodyPr wrap="none" lIns="85722" tIns="28574" rIns="85722" bIns="28574">
            <a:spAutoFit/>
          </a:bodyPr>
          <a:lstStyle/>
          <a:p>
            <a:pPr algn="l"/>
            <a:r>
              <a:rPr sz="1400" b="1" i="0" dirty="0" err="1">
                <a:solidFill>
                  <a:srgbClr val="C9A84C"/>
                </a:solidFill>
                <a:latin typeface="+mj-lt"/>
              </a:rPr>
              <a:t>Typesense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5715" y="6463741"/>
            <a:ext cx="1092574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 i="1" dirty="0">
                <a:solidFill>
                  <a:srgbClr val="E8DFC8"/>
                </a:solidFill>
                <a:latin typeface="+mj-lt"/>
              </a:rPr>
              <a:t>Search engine databases transform unstructured text into instantly searchable, relevance-ranked results at any scale.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861" y="1185684"/>
            <a:ext cx="5371965" cy="1131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Full-text search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E-commerce product search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Log aggregation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Autocomplete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Faceted navigation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Enterprise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867" y="1185684"/>
            <a:ext cx="5371965" cy="739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Optimized for full-text and fuzzy search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Powerful relevance scoring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Handles unstructured text natively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Rich aggregation capabilities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861" y="3929559"/>
            <a:ext cx="5371965" cy="554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Not a primary data store — requires sync from source of truth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Complex relevance tuning</a:t>
            </a:r>
          </a:p>
          <a:p>
            <a:pPr marL="119952" indent="-119952" algn="l">
              <a:lnSpc>
                <a:spcPts val="1197"/>
              </a:lnSpc>
              <a:spcBef>
                <a:spcPts val="299"/>
              </a:spcBef>
              <a:spcAft>
                <a:spcPts val="0"/>
              </a:spcAft>
              <a:buClr>
                <a:srgbClr val="908675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Significant index storage overhead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41176"/>
            <a:ext cx="5657850" cy="2594669"/>
          </a:xfrm>
          <a:prstGeom prst="roundRect">
            <a:avLst>
              <a:gd name="adj" fmla="val 2936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992" y="962265"/>
            <a:ext cx="106558" cy="933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92" y="1258756"/>
            <a:ext cx="53279" cy="532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92" y="1467706"/>
            <a:ext cx="53279" cy="532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92" y="1676655"/>
            <a:ext cx="53279" cy="532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92" y="1885605"/>
            <a:ext cx="53279" cy="5327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992" y="2094554"/>
            <a:ext cx="53279" cy="532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53150" y="841176"/>
            <a:ext cx="5657850" cy="2594669"/>
          </a:xfrm>
          <a:prstGeom prst="roundRect">
            <a:avLst>
              <a:gd name="adj" fmla="val 2936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1998" y="956345"/>
            <a:ext cx="106558" cy="10655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1258756"/>
            <a:ext cx="53279" cy="5327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1467706"/>
            <a:ext cx="53279" cy="5327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1676655"/>
            <a:ext cx="53279" cy="5327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1998" y="1885605"/>
            <a:ext cx="53279" cy="5327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81000" y="3550146"/>
            <a:ext cx="5657850" cy="2594669"/>
          </a:xfrm>
          <a:prstGeom prst="roundRect">
            <a:avLst>
              <a:gd name="adj" fmla="val 2936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992" y="3665247"/>
            <a:ext cx="106558" cy="10655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992" y="3967658"/>
            <a:ext cx="53279" cy="5327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992" y="4176608"/>
            <a:ext cx="53279" cy="5327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992" y="4385557"/>
            <a:ext cx="53279" cy="5327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53150" y="3550146"/>
            <a:ext cx="5657850" cy="2594669"/>
          </a:xfrm>
          <a:prstGeom prst="roundRect">
            <a:avLst>
              <a:gd name="adj" fmla="val 2936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7917" y="3671171"/>
            <a:ext cx="94718" cy="9470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1998" y="3967658"/>
            <a:ext cx="53279" cy="5327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1998" y="4176608"/>
            <a:ext cx="53279" cy="5327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1998" y="4385557"/>
            <a:ext cx="53279" cy="53279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1998" y="4594506"/>
            <a:ext cx="53279" cy="5327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1998" y="4803456"/>
            <a:ext cx="53279" cy="5327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81000" y="6274296"/>
            <a:ext cx="11430000" cy="355103"/>
          </a:xfrm>
          <a:prstGeom prst="rect">
            <a:avLst/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81000" y="6274296"/>
            <a:ext cx="38100" cy="35510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990" y="257168"/>
            <a:ext cx="4512646" cy="738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0EAD6"/>
                </a:solidFill>
                <a:latin typeface="+mj-lt"/>
              </a:rPr>
              <a:t>Spatial Databases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81187" y="352416"/>
            <a:ext cx="790275" cy="303927"/>
          </a:xfrm>
          <a:prstGeom prst="rect">
            <a:avLst/>
          </a:prstGeom>
          <a:noFill/>
        </p:spPr>
        <p:txBody>
          <a:bodyPr wrap="none" lIns="95247" tIns="28574" rIns="95247" bIns="28574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15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5009" y="947713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140" y="1210388"/>
            <a:ext cx="313290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Geographic information systems (GIS)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140" y="1419338"/>
            <a:ext cx="178209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Mapping applications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140" y="1628287"/>
            <a:ext cx="197797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Location-based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140" y="1837237"/>
            <a:ext cx="179164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Logistics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140" y="2046186"/>
            <a:ext cx="176221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Real estate platforms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7015" y="947713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6146" y="1210388"/>
            <a:ext cx="36633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Native geometric and geographic data types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6146" y="1419338"/>
            <a:ext cx="360861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Efficient spatial indexing (R-tree, QuadTree)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6146" y="1628287"/>
            <a:ext cx="279640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Standard SQL/MM spatial queries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6146" y="1837237"/>
            <a:ext cx="161319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GIS tool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5009" y="365661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140" y="3919290"/>
            <a:ext cx="263078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Specialized knowledge required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140" y="4128240"/>
            <a:ext cx="450123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Performance degrades on complex operations at scale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140" y="4337189"/>
            <a:ext cx="241239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Enterprise GIS licensing costs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7015" y="3656615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6146" y="3919290"/>
            <a:ext cx="63318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PostGIS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6146" y="4128240"/>
            <a:ext cx="114159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Oracle Spatial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6146" y="4337189"/>
            <a:ext cx="90242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C8BFA8"/>
                </a:solidFill>
                <a:latin typeface="+mj-lt"/>
              </a:rPr>
              <a:t>SQL 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6146" y="4546139"/>
            <a:ext cx="81342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SpatiaLite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6146" y="4755088"/>
            <a:ext cx="176477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C8BFA8"/>
                </a:solidFill>
                <a:latin typeface="+mj-lt"/>
              </a:rPr>
              <a:t>MongoDB Geospatial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1960" y="6367452"/>
            <a:ext cx="1061111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E8DFC8"/>
                </a:solidFill>
                <a:latin typeface="+mj-lt"/>
              </a:rPr>
              <a:t>Spatial databases extend storage with geometry and geography </a:t>
            </a:r>
            <a:r>
              <a:rPr lang="en-US" sz="14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400" b="0" i="1" dirty="0">
                <a:solidFill>
                  <a:srgbClr val="E8DFC8"/>
                </a:solidFill>
                <a:latin typeface="+mj-lt"/>
              </a:rPr>
              <a:t> enabling location-aware queries for maps, navigation, and geospatial analytics.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796230"/>
            <a:ext cx="5657850" cy="2618035"/>
          </a:xfrm>
          <a:prstGeom prst="roundRect">
            <a:avLst>
              <a:gd name="adj" fmla="val 2910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61" y="925799"/>
            <a:ext cx="106558" cy="9323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53150" y="796230"/>
            <a:ext cx="5657850" cy="2618035"/>
          </a:xfrm>
          <a:prstGeom prst="roundRect">
            <a:avLst>
              <a:gd name="adj" fmla="val 2910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5867" y="919139"/>
            <a:ext cx="106558" cy="1065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3528566"/>
            <a:ext cx="5657850" cy="2618035"/>
          </a:xfrm>
          <a:prstGeom prst="roundRect">
            <a:avLst>
              <a:gd name="adj" fmla="val 2910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61" y="3651406"/>
            <a:ext cx="106558" cy="1065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53150" y="3528566"/>
            <a:ext cx="5657850" cy="2618035"/>
          </a:xfrm>
          <a:prstGeom prst="roundRect">
            <a:avLst>
              <a:gd name="adj" fmla="val 2910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2527" y="3651406"/>
            <a:ext cx="93238" cy="1065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0990" y="285742"/>
            <a:ext cx="7844712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0EAD6"/>
                </a:solidFill>
                <a:latin typeface="+mj-lt"/>
              </a:rPr>
              <a:t>OLAP — Online Analytical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8359" y="352416"/>
            <a:ext cx="790275" cy="323163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600" b="1" i="0" dirty="0">
                <a:solidFill>
                  <a:srgbClr val="C9A84C"/>
                </a:solidFill>
                <a:latin typeface="+mj-lt"/>
              </a:rPr>
              <a:t>16 / </a:t>
            </a:r>
            <a:r>
              <a:rPr lang="en-US" sz="1600" b="1" i="0" dirty="0">
                <a:solidFill>
                  <a:srgbClr val="C9A84C"/>
                </a:solidFill>
                <a:latin typeface="+mj-lt"/>
              </a:rPr>
              <a:t>18</a:t>
            </a:r>
            <a:endParaRPr sz="16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6618" y="910507"/>
            <a:ext cx="9070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8623" y="910507"/>
            <a:ext cx="3264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618" y="3642774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8623" y="3642774"/>
            <a:ext cx="70410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454" y="6413141"/>
            <a:ext cx="1056693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E8DFC8"/>
                </a:solidFill>
                <a:latin typeface="+mj-lt"/>
              </a:rPr>
              <a:t>OLAP databases are the analytical engines behind business intelligence </a:t>
            </a:r>
            <a:r>
              <a:rPr lang="en-US" sz="1400" b="0" i="1" dirty="0">
                <a:solidFill>
                  <a:srgbClr val="E8DFC8"/>
                </a:solidFill>
                <a:latin typeface="+mj-lt"/>
              </a:rPr>
              <a:t>-</a:t>
            </a:r>
            <a:r>
              <a:rPr sz="1400" b="0" i="1" dirty="0">
                <a:solidFill>
                  <a:srgbClr val="E8DFC8"/>
                </a:solidFill>
                <a:latin typeface="+mj-lt"/>
              </a:rPr>
              <a:t> turning terabytes of historical data into fast, multidimensional insights.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61" y="1167676"/>
            <a:ext cx="5371965" cy="10575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Business intelligence dashboards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Data warehousing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Financial reporting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Sales analytics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Trend analysis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Executive decision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5867" y="1167676"/>
            <a:ext cx="5371965" cy="69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Optimized for complex analytical queries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Columnar storage for fast aggregations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Multidimensional analysis (cubes)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Excellent compression on analytical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61" y="3899943"/>
            <a:ext cx="5371965" cy="69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Not designed for transactional (OLTP) workloads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ETL pipeline required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High historical data storage costs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Performance depends on schema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5867" y="3899943"/>
            <a:ext cx="5371965" cy="1237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9952" indent="-11995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E8C97A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Snowflake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E8C97A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Google </a:t>
            </a:r>
            <a:r>
              <a:rPr sz="1600" b="0" i="0" dirty="0" err="1">
                <a:solidFill>
                  <a:srgbClr val="C8BFA8"/>
                </a:solidFill>
                <a:latin typeface="+mj-lt"/>
              </a:rPr>
              <a:t>BigQuery</a:t>
            </a:r>
            <a:endParaRPr sz="1600" b="0" i="0" dirty="0">
              <a:solidFill>
                <a:srgbClr val="C8BFA8"/>
              </a:solidFill>
              <a:latin typeface="+mj-lt"/>
            </a:endParaRP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E8C97A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Amazon Redshift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E8C97A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Apache Druid</a:t>
            </a: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E8C97A"/>
              </a:buClr>
              <a:buSzPct val="100000"/>
              <a:buFont typeface="Inter" charset="0"/>
              <a:buChar char="●"/>
            </a:pPr>
            <a:r>
              <a:rPr sz="1600" b="0" i="0" dirty="0" err="1">
                <a:solidFill>
                  <a:srgbClr val="C8BFA8"/>
                </a:solidFill>
                <a:latin typeface="+mj-lt"/>
              </a:rPr>
              <a:t>ClickHouse</a:t>
            </a:r>
            <a:endParaRPr sz="1600" b="0" i="0" dirty="0">
              <a:solidFill>
                <a:srgbClr val="C8BFA8"/>
              </a:solidFill>
              <a:latin typeface="+mj-lt"/>
            </a:endParaRP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E8C97A"/>
              </a:buClr>
              <a:buSzPct val="100000"/>
              <a:buFont typeface="Inter" charset="0"/>
              <a:buChar char="●"/>
            </a:pPr>
            <a:r>
              <a:rPr sz="1600" b="0" i="0" dirty="0" err="1">
                <a:solidFill>
                  <a:srgbClr val="C8BFA8"/>
                </a:solidFill>
                <a:latin typeface="+mj-lt"/>
              </a:rPr>
              <a:t>DuckDB</a:t>
            </a:r>
            <a:endParaRPr lang="en-US" sz="1600" b="0" i="0" dirty="0">
              <a:solidFill>
                <a:srgbClr val="C8BFA8"/>
              </a:solidFill>
              <a:latin typeface="+mj-lt"/>
            </a:endParaRPr>
          </a:p>
          <a:p>
            <a:pPr marL="119952" indent="-11995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E8C97A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SQL Server – Analysis Services</a:t>
            </a:r>
            <a:endParaRPr sz="1600" b="0" i="0" dirty="0">
              <a:solidFill>
                <a:srgbClr val="C8BFA8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2900" y="725685"/>
            <a:ext cx="5705475" cy="2718048"/>
          </a:xfrm>
          <a:prstGeom prst="roundRect">
            <a:avLst>
              <a:gd name="adj" fmla="val 280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143625" y="725685"/>
            <a:ext cx="5705475" cy="2718048"/>
          </a:xfrm>
          <a:prstGeom prst="roundRect">
            <a:avLst>
              <a:gd name="adj" fmla="val 280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42900" y="3538983"/>
            <a:ext cx="5705475" cy="2718048"/>
          </a:xfrm>
          <a:prstGeom prst="roundRect">
            <a:avLst>
              <a:gd name="adj" fmla="val 280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43625" y="3538983"/>
            <a:ext cx="5705475" cy="2718048"/>
          </a:xfrm>
          <a:prstGeom prst="roundRect">
            <a:avLst>
              <a:gd name="adj" fmla="val 280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2891" y="238119"/>
            <a:ext cx="4784900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i="0" dirty="0">
                <a:solidFill>
                  <a:srgbClr val="F0EAD6"/>
                </a:solidFill>
                <a:latin typeface="+mj-lt"/>
              </a:rPr>
              <a:t>DFS-Backed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7294" y="314317"/>
            <a:ext cx="714933" cy="292386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17 / </a:t>
            </a:r>
            <a:r>
              <a:rPr lang="en-US" sz="1400" b="1" i="0" dirty="0">
                <a:solidFill>
                  <a:srgbClr val="C9A84C"/>
                </a:solidFill>
                <a:latin typeface="+mj-lt"/>
              </a:rPr>
              <a:t>18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416" y="820915"/>
            <a:ext cx="1176340" cy="340474"/>
          </a:xfrm>
          <a:prstGeom prst="rect">
            <a:avLst/>
          </a:prstGeom>
          <a:noFill/>
        </p:spPr>
        <p:txBody>
          <a:bodyPr wrap="none" lIns="133346" tIns="66673" rIns="133346" bIns="5714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2996" y="820915"/>
            <a:ext cx="595732" cy="340474"/>
          </a:xfrm>
          <a:prstGeom prst="rect">
            <a:avLst/>
          </a:prstGeom>
          <a:noFill/>
        </p:spPr>
        <p:txBody>
          <a:bodyPr wrap="none" lIns="133346" tIns="66673" rIns="133346" bIns="57148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416" y="3634143"/>
            <a:ext cx="628369" cy="340474"/>
          </a:xfrm>
          <a:prstGeom prst="rect">
            <a:avLst/>
          </a:prstGeom>
          <a:noFill/>
        </p:spPr>
        <p:txBody>
          <a:bodyPr wrap="none" lIns="133346" tIns="66673" rIns="133346" bIns="57148">
            <a:spAutoFit/>
          </a:bodyPr>
          <a:lstStyle/>
          <a:p>
            <a:pPr algn="l"/>
            <a:r>
              <a:rPr sz="1400" b="1" i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2996" y="3634143"/>
            <a:ext cx="973400" cy="340474"/>
          </a:xfrm>
          <a:prstGeom prst="rect">
            <a:avLst/>
          </a:prstGeom>
          <a:noFill/>
        </p:spPr>
        <p:txBody>
          <a:bodyPr wrap="none" lIns="133346" tIns="66673" rIns="133346" bIns="57148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1" y="6390222"/>
            <a:ext cx="11382988" cy="342398"/>
          </a:xfrm>
          <a:prstGeom prst="rect">
            <a:avLst/>
          </a:prstGeom>
          <a:noFill/>
        </p:spPr>
        <p:txBody>
          <a:bodyPr wrap="none" lIns="0" tIns="95247" rIns="0" bIns="0">
            <a:spAutoFit/>
          </a:bodyPr>
          <a:lstStyle/>
          <a:p>
            <a:r>
              <a:rPr lang="en-US" sz="1600" i="1" dirty="0">
                <a:solidFill>
                  <a:srgbClr val="E8DFC8"/>
                </a:solidFill>
              </a:rPr>
              <a:t>DFS-backed databases harness distributed file systems for petabyte-scale storage - the backbone of big data architectures and data lakes.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62" y="1173331"/>
            <a:ext cx="5419589" cy="871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Big data batch processing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Data lake storage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Large-scale ETL pipelines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Hadoop ecosystem workflows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ML training data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342" y="1173331"/>
            <a:ext cx="5419589" cy="69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Massive scalability on commodity hardware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Fault-tolerant through replication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Cost-effective for petabyte-scale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Integrates with Spark, Hive, and big data frameworks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62" y="3986559"/>
            <a:ext cx="5419589" cy="69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High query latency — not suited for real-time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Complex cluster management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Designed for batch, not interactive queries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sz="1600" b="0" i="0">
                <a:solidFill>
                  <a:srgbClr val="C8BFA8"/>
                </a:solidFill>
                <a:latin typeface="+mj-lt"/>
              </a:rPr>
              <a:t>Overkill for small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42" y="3986559"/>
            <a:ext cx="5419589" cy="871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Apache HBase on HDFS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Apache Hive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Delta Lake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Apache Iceberg</a:t>
            </a:r>
          </a:p>
          <a:p>
            <a:pPr marL="112362" indent="-112362" algn="l">
              <a:lnSpc>
                <a:spcPts val="1124"/>
              </a:lnSpc>
              <a:spcBef>
                <a:spcPts val="299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sz="1600" b="0" i="0" dirty="0">
                <a:solidFill>
                  <a:srgbClr val="C8BFA8"/>
                </a:solidFill>
                <a:latin typeface="+mj-lt"/>
              </a:rPr>
              <a:t>Apache Hudi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A114F-D589-42CB-7C5F-EBDB5032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D511F2-A54E-D182-6DE1-4690DFE6425C}"/>
              </a:ext>
            </a:extLst>
          </p:cNvPr>
          <p:cNvSpPr/>
          <p:nvPr/>
        </p:nvSpPr>
        <p:spPr>
          <a:xfrm>
            <a:off x="342900" y="725685"/>
            <a:ext cx="5705475" cy="2718048"/>
          </a:xfrm>
          <a:prstGeom prst="roundRect">
            <a:avLst>
              <a:gd name="adj" fmla="val 280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9B0284-0FC9-DA49-E91D-96202BE377FE}"/>
              </a:ext>
            </a:extLst>
          </p:cNvPr>
          <p:cNvSpPr/>
          <p:nvPr/>
        </p:nvSpPr>
        <p:spPr>
          <a:xfrm>
            <a:off x="6143625" y="725685"/>
            <a:ext cx="5705475" cy="2718048"/>
          </a:xfrm>
          <a:prstGeom prst="roundRect">
            <a:avLst>
              <a:gd name="adj" fmla="val 280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1864AD-7C42-12FD-640D-BF71AC4F0167}"/>
              </a:ext>
            </a:extLst>
          </p:cNvPr>
          <p:cNvSpPr/>
          <p:nvPr/>
        </p:nvSpPr>
        <p:spPr>
          <a:xfrm>
            <a:off x="342900" y="3538983"/>
            <a:ext cx="5705475" cy="2718048"/>
          </a:xfrm>
          <a:prstGeom prst="roundRect">
            <a:avLst>
              <a:gd name="adj" fmla="val 280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840339-C5BB-3B46-F1B6-E8DD1D212274}"/>
              </a:ext>
            </a:extLst>
          </p:cNvPr>
          <p:cNvSpPr/>
          <p:nvPr/>
        </p:nvSpPr>
        <p:spPr>
          <a:xfrm>
            <a:off x="6143625" y="3538983"/>
            <a:ext cx="5705475" cy="2718048"/>
          </a:xfrm>
          <a:prstGeom prst="roundRect">
            <a:avLst>
              <a:gd name="adj" fmla="val 2803"/>
            </a:avLst>
          </a:prstGeom>
          <a:solidFill>
            <a:srgbClr val="24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CAA9E-DC14-D72F-A21B-6B4CE0BC6437}"/>
              </a:ext>
            </a:extLst>
          </p:cNvPr>
          <p:cNvSpPr txBox="1"/>
          <p:nvPr/>
        </p:nvSpPr>
        <p:spPr>
          <a:xfrm>
            <a:off x="342891" y="238119"/>
            <a:ext cx="3692357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4000" b="1" i="0" dirty="0">
                <a:solidFill>
                  <a:srgbClr val="F0EAD6"/>
                </a:solidFill>
                <a:latin typeface="+mj-lt"/>
              </a:rPr>
              <a:t>Vector</a:t>
            </a:r>
            <a:r>
              <a:rPr sz="4000" b="1" i="0" dirty="0">
                <a:solidFill>
                  <a:srgbClr val="F0EAD6"/>
                </a:solidFill>
                <a:latin typeface="+mj-lt"/>
              </a:rPr>
              <a:t> Databases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0C255-216D-AC88-A734-FB9C528371EA}"/>
              </a:ext>
            </a:extLst>
          </p:cNvPr>
          <p:cNvSpPr txBox="1"/>
          <p:nvPr/>
        </p:nvSpPr>
        <p:spPr>
          <a:xfrm>
            <a:off x="11337294" y="314317"/>
            <a:ext cx="714933" cy="292386"/>
          </a:xfrm>
          <a:prstGeom prst="rect">
            <a:avLst/>
          </a:prstGeom>
          <a:noFill/>
        </p:spPr>
        <p:txBody>
          <a:bodyPr wrap="none" lIns="95247" tIns="38099" rIns="95247" bIns="38099">
            <a:spAutoFit/>
          </a:bodyPr>
          <a:lstStyle/>
          <a:p>
            <a:pPr algn="l"/>
            <a:r>
              <a:rPr sz="1400" b="1" i="0" dirty="0">
                <a:solidFill>
                  <a:srgbClr val="C9A84C"/>
                </a:solidFill>
                <a:latin typeface="+mj-lt"/>
              </a:rPr>
              <a:t>1</a:t>
            </a:r>
            <a:r>
              <a:rPr lang="en-US" sz="1400" b="1" i="0" dirty="0">
                <a:solidFill>
                  <a:srgbClr val="C9A84C"/>
                </a:solidFill>
                <a:latin typeface="+mj-lt"/>
              </a:rPr>
              <a:t>8</a:t>
            </a:r>
            <a:r>
              <a:rPr sz="1400" b="1" i="0" dirty="0">
                <a:solidFill>
                  <a:srgbClr val="C9A84C"/>
                </a:solidFill>
                <a:latin typeface="+mj-lt"/>
              </a:rPr>
              <a:t> / </a:t>
            </a:r>
            <a:r>
              <a:rPr lang="en-US" sz="1400" b="1" i="0" dirty="0">
                <a:solidFill>
                  <a:srgbClr val="C9A84C"/>
                </a:solidFill>
                <a:latin typeface="+mj-lt"/>
              </a:rPr>
              <a:t>18</a:t>
            </a:r>
            <a:endParaRPr sz="1400" b="1" i="0" dirty="0">
              <a:solidFill>
                <a:srgbClr val="C9A84C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BF617-49BD-7553-2CCA-F23CC134BE53}"/>
              </a:ext>
            </a:extLst>
          </p:cNvPr>
          <p:cNvSpPr txBox="1"/>
          <p:nvPr/>
        </p:nvSpPr>
        <p:spPr>
          <a:xfrm>
            <a:off x="352416" y="820915"/>
            <a:ext cx="1176340" cy="340474"/>
          </a:xfrm>
          <a:prstGeom prst="rect">
            <a:avLst/>
          </a:prstGeom>
          <a:noFill/>
        </p:spPr>
        <p:txBody>
          <a:bodyPr wrap="none" lIns="133346" tIns="66673" rIns="133346" bIns="5714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+mj-lt"/>
              </a:rPr>
              <a:t>Typical Uses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6C7D32-7AD2-4015-20E5-9DBA229549CB}"/>
              </a:ext>
            </a:extLst>
          </p:cNvPr>
          <p:cNvSpPr txBox="1"/>
          <p:nvPr/>
        </p:nvSpPr>
        <p:spPr>
          <a:xfrm>
            <a:off x="6152996" y="820915"/>
            <a:ext cx="595732" cy="340474"/>
          </a:xfrm>
          <a:prstGeom prst="rect">
            <a:avLst/>
          </a:prstGeom>
          <a:noFill/>
        </p:spPr>
        <p:txBody>
          <a:bodyPr wrap="none" lIns="133346" tIns="66673" rIns="133346" bIns="57148">
            <a:spAutoFit/>
          </a:bodyPr>
          <a:lstStyle/>
          <a:p>
            <a:pPr algn="l"/>
            <a:r>
              <a:rPr sz="1400" b="1" i="0">
                <a:solidFill>
                  <a:srgbClr val="7A9E7E"/>
                </a:solidFill>
                <a:latin typeface="+mj-lt"/>
              </a:rPr>
              <a:t>Pros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4D492-C222-73EB-C2DC-F22554BC49E7}"/>
              </a:ext>
            </a:extLst>
          </p:cNvPr>
          <p:cNvSpPr txBox="1"/>
          <p:nvPr/>
        </p:nvSpPr>
        <p:spPr>
          <a:xfrm>
            <a:off x="352416" y="3634143"/>
            <a:ext cx="628369" cy="340474"/>
          </a:xfrm>
          <a:prstGeom prst="rect">
            <a:avLst/>
          </a:prstGeom>
          <a:noFill/>
        </p:spPr>
        <p:txBody>
          <a:bodyPr wrap="none" lIns="133346" tIns="66673" rIns="133346" bIns="57148">
            <a:spAutoFit/>
          </a:bodyPr>
          <a:lstStyle/>
          <a:p>
            <a:pPr algn="l"/>
            <a:r>
              <a:rPr sz="1400" b="1" i="0">
                <a:solidFill>
                  <a:srgbClr val="C17171"/>
                </a:solidFill>
                <a:latin typeface="+mj-lt"/>
              </a:rPr>
              <a:t>Cons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9C1C68-805D-A2AB-231F-B952960EA8CD}"/>
              </a:ext>
            </a:extLst>
          </p:cNvPr>
          <p:cNvSpPr txBox="1"/>
          <p:nvPr/>
        </p:nvSpPr>
        <p:spPr>
          <a:xfrm>
            <a:off x="6152996" y="3634143"/>
            <a:ext cx="973400" cy="340474"/>
          </a:xfrm>
          <a:prstGeom prst="rect">
            <a:avLst/>
          </a:prstGeom>
          <a:noFill/>
        </p:spPr>
        <p:txBody>
          <a:bodyPr wrap="none" lIns="133346" tIns="66673" rIns="133346" bIns="57148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+mj-lt"/>
              </a:rPr>
              <a:t>Examples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276F69-53A3-EE72-E810-332AB711A821}"/>
              </a:ext>
            </a:extLst>
          </p:cNvPr>
          <p:cNvSpPr txBox="1"/>
          <p:nvPr/>
        </p:nvSpPr>
        <p:spPr>
          <a:xfrm>
            <a:off x="342891" y="6390222"/>
            <a:ext cx="11724363" cy="311621"/>
          </a:xfrm>
          <a:prstGeom prst="rect">
            <a:avLst/>
          </a:prstGeom>
          <a:noFill/>
        </p:spPr>
        <p:txBody>
          <a:bodyPr wrap="none" lIns="0" tIns="95247" rIns="0" bIns="0">
            <a:spAutoFit/>
          </a:bodyPr>
          <a:lstStyle/>
          <a:p>
            <a:pPr algn="l"/>
            <a:r>
              <a:rPr lang="en-US" sz="1400" b="0" i="1" dirty="0">
                <a:solidFill>
                  <a:srgbClr val="E8DFC8"/>
                </a:solidFill>
                <a:latin typeface="+mj-lt"/>
              </a:rPr>
              <a:t>Vector DBs are fast, scalable similarity search over high-dimensional embeddings – they shine anywhere you need semantic search </a:t>
            </a:r>
            <a:r>
              <a:rPr lang="en-US" sz="1400" i="1" dirty="0">
                <a:solidFill>
                  <a:srgbClr val="E8DFC8"/>
                </a:solidFill>
                <a:latin typeface="+mj-lt"/>
              </a:rPr>
              <a:t>rather than keyword retrieval.</a:t>
            </a:r>
            <a:endParaRPr sz="1400" b="0" i="1" dirty="0">
              <a:solidFill>
                <a:srgbClr val="E8DFC8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E1CBD-9A72-C258-2DB1-9717C8C5CEAD}"/>
              </a:ext>
            </a:extLst>
          </p:cNvPr>
          <p:cNvSpPr txBox="1"/>
          <p:nvPr/>
        </p:nvSpPr>
        <p:spPr>
          <a:xfrm>
            <a:off x="485762" y="1173331"/>
            <a:ext cx="5419589" cy="11473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Semantic Search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Retrieval Augmented Generation (RAG)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Recommendation Systems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Multimodal Search (e.g. text + audio + image + video)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Fraud Detection and Anomaly Detection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Long-Term Agent Memory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Enterprise Search and Knowledge Management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Real-Time Personalization</a:t>
            </a:r>
            <a:endParaRPr sz="1600" b="0" i="0" dirty="0">
              <a:solidFill>
                <a:srgbClr val="C8BFA8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8CE12-D7AC-92B3-2F30-E151E75417C7}"/>
              </a:ext>
            </a:extLst>
          </p:cNvPr>
          <p:cNvSpPr txBox="1"/>
          <p:nvPr/>
        </p:nvSpPr>
        <p:spPr>
          <a:xfrm>
            <a:off x="6286342" y="1173331"/>
            <a:ext cx="5419589" cy="10063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Semantic Retrieval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High Performance at Scale (up to 1000X faster)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Multimodal Support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Hybrid Search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Real-Time Recommendations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Flexible Schema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7A9E7E"/>
              </a:buClr>
              <a:buSzPct val="100000"/>
              <a:buFont typeface="Inter" charset="0"/>
              <a:buChar char="●"/>
            </a:pPr>
            <a:endParaRPr sz="1600" b="0" i="0" dirty="0">
              <a:solidFill>
                <a:srgbClr val="C8BFA8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D1C7BC-FD1E-7FC3-1F0A-3A8B1ABAECAE}"/>
              </a:ext>
            </a:extLst>
          </p:cNvPr>
          <p:cNvSpPr txBox="1"/>
          <p:nvPr/>
        </p:nvSpPr>
        <p:spPr>
          <a:xfrm>
            <a:off x="485762" y="3986559"/>
            <a:ext cx="5419589" cy="10063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Operational Cost at Scale (significant memory and CPU)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Latency under high load (recall vs latency)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Data Freshness Issu</a:t>
            </a:r>
            <a:r>
              <a:rPr lang="en-US" sz="1600" dirty="0">
                <a:solidFill>
                  <a:srgbClr val="C8BFA8"/>
                </a:solidFill>
                <a:latin typeface="+mj-lt"/>
              </a:rPr>
              <a:t>es (update requires re-indexing)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Accuracy Trade-offs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Infrastructure Complexity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Not Always Necessary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17171"/>
              </a:buClr>
              <a:buSzPct val="100000"/>
              <a:buFont typeface="Inter" charset="0"/>
              <a:buChar char="●"/>
            </a:pPr>
            <a:endParaRPr sz="1600" b="0" i="0" dirty="0">
              <a:solidFill>
                <a:srgbClr val="C8BFA8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31E79-F125-E7A5-9D5B-8865E55657B1}"/>
              </a:ext>
            </a:extLst>
          </p:cNvPr>
          <p:cNvSpPr txBox="1"/>
          <p:nvPr/>
        </p:nvSpPr>
        <p:spPr>
          <a:xfrm>
            <a:off x="6286342" y="3986559"/>
            <a:ext cx="5419589" cy="2275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endParaRPr lang="en-US" sz="1600" b="1" i="0" dirty="0">
              <a:solidFill>
                <a:srgbClr val="FFC000"/>
              </a:solidFill>
              <a:latin typeface="+mj-lt"/>
            </a:endParaRPr>
          </a:p>
          <a:p>
            <a:pPr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</a:pPr>
            <a:r>
              <a:rPr lang="en-US" sz="1600" b="1" dirty="0">
                <a:solidFill>
                  <a:srgbClr val="FFC000"/>
                </a:solidFill>
                <a:latin typeface="+mj-lt"/>
              </a:rPr>
              <a:t>Dedicated Vector DBs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Pinecone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dirty="0" err="1">
                <a:solidFill>
                  <a:srgbClr val="C8BFA8"/>
                </a:solidFill>
                <a:latin typeface="+mj-lt"/>
              </a:rPr>
              <a:t>Weaviate</a:t>
            </a:r>
            <a:endParaRPr lang="en-US" sz="1600" dirty="0">
              <a:solidFill>
                <a:srgbClr val="C8BFA8"/>
              </a:solidFill>
              <a:latin typeface="+mj-lt"/>
            </a:endParaRP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 err="1">
                <a:solidFill>
                  <a:srgbClr val="C8BFA8"/>
                </a:solidFill>
                <a:latin typeface="+mj-lt"/>
              </a:rPr>
              <a:t>Qdrant</a:t>
            </a:r>
            <a:endParaRPr lang="en-US" sz="1600" b="0" i="0" dirty="0">
              <a:solidFill>
                <a:srgbClr val="C8BFA8"/>
              </a:solidFill>
              <a:latin typeface="+mj-lt"/>
            </a:endParaRP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Milvus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Chroma</a:t>
            </a:r>
          </a:p>
          <a:p>
            <a:pPr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</a:pPr>
            <a:endParaRPr lang="en-US" sz="1600" b="1" dirty="0">
              <a:solidFill>
                <a:srgbClr val="FFC000"/>
              </a:solidFill>
              <a:latin typeface="+mj-lt"/>
            </a:endParaRPr>
          </a:p>
          <a:p>
            <a:pPr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</a:pPr>
            <a:r>
              <a:rPr lang="en-US" sz="1600" b="1" dirty="0">
                <a:solidFill>
                  <a:srgbClr val="FFC000"/>
                </a:solidFill>
                <a:latin typeface="+mj-lt"/>
              </a:rPr>
              <a:t>Multimodal Vector DBs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 err="1">
                <a:solidFill>
                  <a:srgbClr val="C8BFA8"/>
                </a:solidFill>
                <a:latin typeface="+mj-lt"/>
              </a:rPr>
              <a:t>ArangoDB</a:t>
            </a:r>
            <a:endParaRPr lang="en-US" sz="1600" b="0" i="0" dirty="0">
              <a:solidFill>
                <a:srgbClr val="C8BFA8"/>
              </a:solidFill>
              <a:latin typeface="+mj-lt"/>
            </a:endParaRP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dirty="0">
                <a:solidFill>
                  <a:srgbClr val="C8BFA8"/>
                </a:solidFill>
                <a:latin typeface="+mj-lt"/>
              </a:rPr>
              <a:t>Teradata Enterprise Vector Store</a:t>
            </a:r>
          </a:p>
          <a:p>
            <a:pPr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</a:pPr>
            <a:endParaRPr lang="en-US" sz="1600" b="1" dirty="0">
              <a:solidFill>
                <a:srgbClr val="FFC000"/>
              </a:solidFill>
              <a:latin typeface="+mj-lt"/>
            </a:endParaRPr>
          </a:p>
          <a:p>
            <a:pPr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</a:pPr>
            <a:r>
              <a:rPr lang="en-US" sz="1600" b="1" dirty="0">
                <a:solidFill>
                  <a:srgbClr val="FFC000"/>
                </a:solidFill>
                <a:latin typeface="+mj-lt"/>
              </a:rPr>
              <a:t>Conventional DB with Vector data feature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dirty="0" err="1">
                <a:solidFill>
                  <a:srgbClr val="C8BFA8"/>
                </a:solidFill>
                <a:latin typeface="+mj-lt"/>
              </a:rPr>
              <a:t>PostgresSQL</a:t>
            </a:r>
            <a:r>
              <a:rPr lang="en-US" sz="1600" dirty="0">
                <a:solidFill>
                  <a:srgbClr val="C8BFA8"/>
                </a:solidFill>
                <a:latin typeface="+mj-lt"/>
              </a:rPr>
              <a:t> + </a:t>
            </a:r>
            <a:r>
              <a:rPr lang="en-US" sz="1600" dirty="0" err="1">
                <a:solidFill>
                  <a:srgbClr val="C8BFA8"/>
                </a:solidFill>
                <a:latin typeface="+mj-lt"/>
              </a:rPr>
              <a:t>pgvector</a:t>
            </a:r>
            <a:endParaRPr lang="en-US" sz="1600" dirty="0">
              <a:solidFill>
                <a:srgbClr val="C8BFA8"/>
              </a:solidFill>
              <a:latin typeface="+mj-lt"/>
            </a:endParaRP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El</a:t>
            </a:r>
            <a:r>
              <a:rPr lang="en-US" sz="1600" dirty="0">
                <a:solidFill>
                  <a:srgbClr val="C8BFA8"/>
                </a:solidFill>
                <a:latin typeface="+mj-lt"/>
              </a:rPr>
              <a:t>asticsearch / OpenSearch</a:t>
            </a:r>
          </a:p>
          <a:p>
            <a:pPr marL="112362" indent="-112362" algn="l">
              <a:lnSpc>
                <a:spcPts val="1124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ct val="100000"/>
              <a:buFont typeface="Inter" charset="0"/>
              <a:buChar char="●"/>
            </a:pPr>
            <a:r>
              <a:rPr lang="en-US" sz="1600" b="0" i="0" dirty="0">
                <a:solidFill>
                  <a:srgbClr val="C8BFA8"/>
                </a:solidFill>
                <a:latin typeface="+mj-lt"/>
              </a:rPr>
              <a:t>SQL Server</a:t>
            </a:r>
            <a:endParaRPr sz="1600" b="0" i="0" dirty="0">
              <a:solidFill>
                <a:srgbClr val="C8BFA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27208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1734</Words>
  <Application>Microsoft Office PowerPoint</Application>
  <PresentationFormat>Widescreen</PresentationFormat>
  <Paragraphs>489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Dietrick, Brian</cp:lastModifiedBy>
  <cp:revision>5</cp:revision>
  <dcterms:created xsi:type="dcterms:W3CDTF">2026-08-24T12:52:38Z</dcterms:created>
  <dcterms:modified xsi:type="dcterms:W3CDTF">2026-08-24T21:54:43Z</dcterms:modified>
  <cp:category/>
</cp:coreProperties>
</file>